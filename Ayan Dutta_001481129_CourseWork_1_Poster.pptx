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2" r:id="rId1"/>
  </p:sldMasterIdLst>
  <p:notesMasterIdLst>
    <p:notesMasterId r:id="rId3"/>
  </p:notesMasterIdLst>
  <p:sldIdLst>
    <p:sldId id="256" r:id="rId2"/>
  </p:sldIdLst>
  <p:sldSz cx="36576000" cy="51206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p:restoredTop sz="94691"/>
  </p:normalViewPr>
  <p:slideViewPr>
    <p:cSldViewPr snapToGrid="0">
      <p:cViewPr>
        <p:scale>
          <a:sx n="25" d="100"/>
          <a:sy n="25" d="100"/>
        </p:scale>
        <p:origin x="1166" y="-37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1780E3-E452-1547-AB5F-0D05550E55A5}" type="datetimeFigureOut">
              <a:rPr lang="en-US" smtClean="0"/>
              <a:t>12/2/2025</a:t>
            </a:fld>
            <a:endParaRPr lang="en-US"/>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9CB5DC-7C24-EB44-B62E-7B86F356A48E}" type="slidenum">
              <a:rPr lang="en-US" smtClean="0"/>
              <a:t>‹#›</a:t>
            </a:fld>
            <a:endParaRPr lang="en-US"/>
          </a:p>
        </p:txBody>
      </p:sp>
    </p:spTree>
    <p:extLst>
      <p:ext uri="{BB962C8B-B14F-4D97-AF65-F5344CB8AC3E}">
        <p14:creationId xmlns:p14="http://schemas.microsoft.com/office/powerpoint/2010/main" val="2286719728"/>
      </p:ext>
    </p:extLst>
  </p:cSld>
  <p:clrMap bg1="lt1" tx1="dk1" bg2="lt2" tx2="dk2" accent1="accent1" accent2="accent2" accent3="accent3" accent4="accent4" accent5="accent5" accent6="accent6" hlink="hlink" folHlink="folHlink"/>
  <p:notesStyle>
    <a:lvl1pPr marL="0" algn="l" defTabSz="976671" rtl="0" eaLnBrk="1" latinLnBrk="0" hangingPunct="1">
      <a:defRPr sz="1282" kern="1200">
        <a:solidFill>
          <a:schemeClr val="tx1"/>
        </a:solidFill>
        <a:latin typeface="+mn-lt"/>
        <a:ea typeface="+mn-ea"/>
        <a:cs typeface="+mn-cs"/>
      </a:defRPr>
    </a:lvl1pPr>
    <a:lvl2pPr marL="488335" algn="l" defTabSz="976671" rtl="0" eaLnBrk="1" latinLnBrk="0" hangingPunct="1">
      <a:defRPr sz="1282" kern="1200">
        <a:solidFill>
          <a:schemeClr val="tx1"/>
        </a:solidFill>
        <a:latin typeface="+mn-lt"/>
        <a:ea typeface="+mn-ea"/>
        <a:cs typeface="+mn-cs"/>
      </a:defRPr>
    </a:lvl2pPr>
    <a:lvl3pPr marL="976671" algn="l" defTabSz="976671" rtl="0" eaLnBrk="1" latinLnBrk="0" hangingPunct="1">
      <a:defRPr sz="1282" kern="1200">
        <a:solidFill>
          <a:schemeClr val="tx1"/>
        </a:solidFill>
        <a:latin typeface="+mn-lt"/>
        <a:ea typeface="+mn-ea"/>
        <a:cs typeface="+mn-cs"/>
      </a:defRPr>
    </a:lvl3pPr>
    <a:lvl4pPr marL="1465006" algn="l" defTabSz="976671" rtl="0" eaLnBrk="1" latinLnBrk="0" hangingPunct="1">
      <a:defRPr sz="1282" kern="1200">
        <a:solidFill>
          <a:schemeClr val="tx1"/>
        </a:solidFill>
        <a:latin typeface="+mn-lt"/>
        <a:ea typeface="+mn-ea"/>
        <a:cs typeface="+mn-cs"/>
      </a:defRPr>
    </a:lvl4pPr>
    <a:lvl5pPr marL="1953341" algn="l" defTabSz="976671" rtl="0" eaLnBrk="1" latinLnBrk="0" hangingPunct="1">
      <a:defRPr sz="1282" kern="1200">
        <a:solidFill>
          <a:schemeClr val="tx1"/>
        </a:solidFill>
        <a:latin typeface="+mn-lt"/>
        <a:ea typeface="+mn-ea"/>
        <a:cs typeface="+mn-cs"/>
      </a:defRPr>
    </a:lvl5pPr>
    <a:lvl6pPr marL="2441677" algn="l" defTabSz="976671" rtl="0" eaLnBrk="1" latinLnBrk="0" hangingPunct="1">
      <a:defRPr sz="1282" kern="1200">
        <a:solidFill>
          <a:schemeClr val="tx1"/>
        </a:solidFill>
        <a:latin typeface="+mn-lt"/>
        <a:ea typeface="+mn-ea"/>
        <a:cs typeface="+mn-cs"/>
      </a:defRPr>
    </a:lvl6pPr>
    <a:lvl7pPr marL="2930012" algn="l" defTabSz="976671" rtl="0" eaLnBrk="1" latinLnBrk="0" hangingPunct="1">
      <a:defRPr sz="1282" kern="1200">
        <a:solidFill>
          <a:schemeClr val="tx1"/>
        </a:solidFill>
        <a:latin typeface="+mn-lt"/>
        <a:ea typeface="+mn-ea"/>
        <a:cs typeface="+mn-cs"/>
      </a:defRPr>
    </a:lvl7pPr>
    <a:lvl8pPr marL="3418347" algn="l" defTabSz="976671" rtl="0" eaLnBrk="1" latinLnBrk="0" hangingPunct="1">
      <a:defRPr sz="1282" kern="1200">
        <a:solidFill>
          <a:schemeClr val="tx1"/>
        </a:solidFill>
        <a:latin typeface="+mn-lt"/>
        <a:ea typeface="+mn-ea"/>
        <a:cs typeface="+mn-cs"/>
      </a:defRPr>
    </a:lvl8pPr>
    <a:lvl9pPr marL="3906683" algn="l" defTabSz="976671" rtl="0" eaLnBrk="1" latinLnBrk="0" hangingPunct="1">
      <a:defRPr sz="128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9CB5DC-7C24-EB44-B62E-7B86F356A48E}" type="slidenum">
              <a:rPr lang="en-US" smtClean="0"/>
              <a:t>1</a:t>
            </a:fld>
            <a:endParaRPr lang="en-US"/>
          </a:p>
        </p:txBody>
      </p:sp>
    </p:spTree>
    <p:extLst>
      <p:ext uri="{BB962C8B-B14F-4D97-AF65-F5344CB8AC3E}">
        <p14:creationId xmlns:p14="http://schemas.microsoft.com/office/powerpoint/2010/main" val="165215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8380311"/>
            <a:ext cx="31089600" cy="17827413"/>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26895217"/>
            <a:ext cx="27432000" cy="12363023"/>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202366-9F2F-B642-835B-511DF5011B29}"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183822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02366-9F2F-B642-835B-511DF5011B29}"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170735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12766055"/>
            <a:ext cx="31546800" cy="21300436"/>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34268002"/>
            <a:ext cx="31546800" cy="11201396"/>
          </a:xfrm>
        </p:spPr>
        <p:txBody>
          <a:bodyPr/>
          <a:lstStyle>
            <a:lvl1pPr marL="0" indent="0">
              <a:buNone/>
              <a:defRPr sz="9600">
                <a:solidFill>
                  <a:schemeClr val="tx1">
                    <a:tint val="82000"/>
                  </a:schemeClr>
                </a:solidFill>
              </a:defRPr>
            </a:lvl1pPr>
            <a:lvl2pPr marL="1828800" indent="0">
              <a:buNone/>
              <a:defRPr sz="8000">
                <a:solidFill>
                  <a:schemeClr val="tx1">
                    <a:tint val="82000"/>
                  </a:schemeClr>
                </a:solidFill>
              </a:defRPr>
            </a:lvl2pPr>
            <a:lvl3pPr marL="3657600" indent="0">
              <a:buNone/>
              <a:defRPr sz="7200">
                <a:solidFill>
                  <a:schemeClr val="tx1">
                    <a:tint val="82000"/>
                  </a:schemeClr>
                </a:solidFill>
              </a:defRPr>
            </a:lvl3pPr>
            <a:lvl4pPr marL="5486400" indent="0">
              <a:buNone/>
              <a:defRPr sz="6400">
                <a:solidFill>
                  <a:schemeClr val="tx1">
                    <a:tint val="82000"/>
                  </a:schemeClr>
                </a:solidFill>
              </a:defRPr>
            </a:lvl4pPr>
            <a:lvl5pPr marL="7315200" indent="0">
              <a:buNone/>
              <a:defRPr sz="6400">
                <a:solidFill>
                  <a:schemeClr val="tx1">
                    <a:tint val="82000"/>
                  </a:schemeClr>
                </a:solidFill>
              </a:defRPr>
            </a:lvl5pPr>
            <a:lvl6pPr marL="9144000" indent="0">
              <a:buNone/>
              <a:defRPr sz="6400">
                <a:solidFill>
                  <a:schemeClr val="tx1">
                    <a:tint val="82000"/>
                  </a:schemeClr>
                </a:solidFill>
              </a:defRPr>
            </a:lvl6pPr>
            <a:lvl7pPr marL="10972800" indent="0">
              <a:buNone/>
              <a:defRPr sz="6400">
                <a:solidFill>
                  <a:schemeClr val="tx1">
                    <a:tint val="82000"/>
                  </a:schemeClr>
                </a:solidFill>
              </a:defRPr>
            </a:lvl7pPr>
            <a:lvl8pPr marL="12801600" indent="0">
              <a:buNone/>
              <a:defRPr sz="6400">
                <a:solidFill>
                  <a:schemeClr val="tx1">
                    <a:tint val="82000"/>
                  </a:schemeClr>
                </a:solidFill>
              </a:defRPr>
            </a:lvl8pPr>
            <a:lvl9pPr marL="14630400" indent="0">
              <a:buNone/>
              <a:defRPr sz="6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202366-9F2F-B642-835B-511DF5011B29}"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1231458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13631334"/>
            <a:ext cx="15544800" cy="32489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13631334"/>
            <a:ext cx="15544800" cy="324899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202366-9F2F-B642-835B-511DF5011B29}"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1807169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2726278"/>
            <a:ext cx="31546800" cy="98975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12552684"/>
            <a:ext cx="15473360" cy="6151876"/>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8704560"/>
            <a:ext cx="15473360" cy="275115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12552684"/>
            <a:ext cx="15549564" cy="6151876"/>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8704560"/>
            <a:ext cx="15549564" cy="275115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202366-9F2F-B642-835B-511DF5011B29}"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2819100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202366-9F2F-B642-835B-511DF5011B29}"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2583125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202366-9F2F-B642-835B-511DF5011B29}"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3738505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3413760"/>
            <a:ext cx="11796712" cy="1194816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7372785"/>
            <a:ext cx="18516600" cy="36389733"/>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15361920"/>
            <a:ext cx="11796712" cy="28459857"/>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7A202366-9F2F-B642-835B-511DF5011B29}"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2271885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3413760"/>
            <a:ext cx="11796712" cy="1194816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7372785"/>
            <a:ext cx="18516600" cy="36389733"/>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15361920"/>
            <a:ext cx="11796712" cy="28459857"/>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7A202366-9F2F-B642-835B-511DF5011B29}"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98594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02366-9F2F-B642-835B-511DF5011B29}"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3700818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2726267"/>
            <a:ext cx="7886700" cy="433950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2726267"/>
            <a:ext cx="23202900" cy="433950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02366-9F2F-B642-835B-511DF5011B29}"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D79A7-9BF2-4E4C-8467-A4E10EE9FCE9}" type="slidenum">
              <a:rPr lang="en-US" smtClean="0"/>
              <a:t>‹#›</a:t>
            </a:fld>
            <a:endParaRPr lang="en-US"/>
          </a:p>
        </p:txBody>
      </p:sp>
    </p:spTree>
    <p:extLst>
      <p:ext uri="{BB962C8B-B14F-4D97-AF65-F5344CB8AC3E}">
        <p14:creationId xmlns:p14="http://schemas.microsoft.com/office/powerpoint/2010/main" val="3711509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2726278"/>
            <a:ext cx="31546800" cy="989753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13631334"/>
            <a:ext cx="31546800" cy="324899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47460758"/>
            <a:ext cx="8229600" cy="2726267"/>
          </a:xfrm>
          <a:prstGeom prst="rect">
            <a:avLst/>
          </a:prstGeom>
        </p:spPr>
        <p:txBody>
          <a:bodyPr vert="horz" lIns="91440" tIns="45720" rIns="91440" bIns="45720" rtlCol="0" anchor="ctr"/>
          <a:lstStyle>
            <a:lvl1pPr algn="l">
              <a:defRPr sz="4800">
                <a:solidFill>
                  <a:schemeClr val="tx1">
                    <a:tint val="82000"/>
                  </a:schemeClr>
                </a:solidFill>
              </a:defRPr>
            </a:lvl1pPr>
          </a:lstStyle>
          <a:p>
            <a:fld id="{7A202366-9F2F-B642-835B-511DF5011B29}" type="datetimeFigureOut">
              <a:rPr lang="en-US" smtClean="0"/>
              <a:t>12/2/2025</a:t>
            </a:fld>
            <a:endParaRPr lang="en-US"/>
          </a:p>
        </p:txBody>
      </p:sp>
      <p:sp>
        <p:nvSpPr>
          <p:cNvPr id="5" name="Footer Placeholder 4"/>
          <p:cNvSpPr>
            <a:spLocks noGrp="1"/>
          </p:cNvSpPr>
          <p:nvPr>
            <p:ph type="ftr" sz="quarter" idx="3"/>
          </p:nvPr>
        </p:nvSpPr>
        <p:spPr>
          <a:xfrm>
            <a:off x="12115800" y="47460758"/>
            <a:ext cx="12344400" cy="2726267"/>
          </a:xfrm>
          <a:prstGeom prst="rect">
            <a:avLst/>
          </a:prstGeom>
        </p:spPr>
        <p:txBody>
          <a:bodyPr vert="horz" lIns="91440" tIns="45720" rIns="91440" bIns="45720" rtlCol="0" anchor="ctr"/>
          <a:lstStyle>
            <a:lvl1pPr algn="ctr">
              <a:defRPr sz="4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831800" y="47460758"/>
            <a:ext cx="8229600" cy="2726267"/>
          </a:xfrm>
          <a:prstGeom prst="rect">
            <a:avLst/>
          </a:prstGeom>
        </p:spPr>
        <p:txBody>
          <a:bodyPr vert="horz" lIns="91440" tIns="45720" rIns="91440" bIns="45720" rtlCol="0" anchor="ctr"/>
          <a:lstStyle>
            <a:lvl1pPr algn="r">
              <a:defRPr sz="4800">
                <a:solidFill>
                  <a:schemeClr val="tx1">
                    <a:tint val="82000"/>
                  </a:schemeClr>
                </a:solidFill>
              </a:defRPr>
            </a:lvl1pPr>
          </a:lstStyle>
          <a:p>
            <a:fld id="{5EFD79A7-9BF2-4E4C-8467-A4E10EE9FCE9}" type="slidenum">
              <a:rPr lang="en-US" smtClean="0"/>
              <a:t>‹#›</a:t>
            </a:fld>
            <a:endParaRPr lang="en-US"/>
          </a:p>
        </p:txBody>
      </p:sp>
    </p:spTree>
    <p:extLst>
      <p:ext uri="{BB962C8B-B14F-4D97-AF65-F5344CB8AC3E}">
        <p14:creationId xmlns:p14="http://schemas.microsoft.com/office/powerpoint/2010/main" val="4289375742"/>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5">
            <a:extLst>
              <a:ext uri="{FF2B5EF4-FFF2-40B4-BE49-F238E27FC236}">
                <a16:creationId xmlns:a16="http://schemas.microsoft.com/office/drawing/2014/main" id="{F7937DD9-A453-742B-D818-18560FF7D781}"/>
              </a:ext>
            </a:extLst>
          </p:cNvPr>
          <p:cNvSpPr txBox="1"/>
          <p:nvPr/>
        </p:nvSpPr>
        <p:spPr>
          <a:xfrm>
            <a:off x="1012371" y="2300461"/>
            <a:ext cx="17173037" cy="2203080"/>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defTabSz="2820799">
              <a:spcBef>
                <a:spcPct val="20000"/>
              </a:spcBef>
              <a:defRPr/>
            </a:pPr>
            <a:r>
              <a:rPr lang="en-US" sz="6600" b="1" dirty="0">
                <a:solidFill>
                  <a:srgbClr val="434342"/>
                </a:solidFill>
                <a:latin typeface="Times New Roman" panose="02020603050405020304" pitchFamily="18" charset="0"/>
                <a:cs typeface="Times New Roman" panose="02020603050405020304" pitchFamily="18" charset="0"/>
              </a:rPr>
              <a:t>Design, Implementation and Analysis of a 7-Pole Chebyshev Microstrip Bandpass Filter at 2.0 GHz with a Specific Fractional Bandwidth</a:t>
            </a:r>
          </a:p>
        </p:txBody>
      </p:sp>
      <p:sp>
        <p:nvSpPr>
          <p:cNvPr id="5" name="Text Placeholder 5">
            <a:extLst>
              <a:ext uri="{FF2B5EF4-FFF2-40B4-BE49-F238E27FC236}">
                <a16:creationId xmlns:a16="http://schemas.microsoft.com/office/drawing/2014/main" id="{92F174C1-FD42-3243-56BB-DA5F5E34F7BA}"/>
              </a:ext>
            </a:extLst>
          </p:cNvPr>
          <p:cNvSpPr txBox="1"/>
          <p:nvPr/>
        </p:nvSpPr>
        <p:spPr>
          <a:xfrm>
            <a:off x="1012370" y="5797212"/>
            <a:ext cx="16622362" cy="1883593"/>
          </a:xfrm>
          <a:prstGeom prst="rect">
            <a:avLst/>
          </a:prstGeom>
        </p:spPr>
        <p:style>
          <a:lnRef idx="2">
            <a:schemeClr val="accent2"/>
          </a:lnRef>
          <a:fillRef idx="1">
            <a:schemeClr val="lt1"/>
          </a:fillRef>
          <a:effectRef idx="0">
            <a:schemeClr val="accent2"/>
          </a:effectRef>
          <a:fontRef idx="minor">
            <a:schemeClr val="dk1"/>
          </a:fontRef>
        </p:style>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defRPr/>
            </a:pPr>
            <a:r>
              <a:rPr lang="en-US" sz="3600" dirty="0">
                <a:solidFill>
                  <a:schemeClr val="tx1"/>
                </a:solidFill>
                <a:latin typeface="Times New Roman" panose="02020603050405020304" pitchFamily="18" charset="0"/>
                <a:cs typeface="Times New Roman" panose="02020603050405020304" pitchFamily="18" charset="0"/>
              </a:rPr>
              <a:t>Ayan Dutta</a:t>
            </a:r>
          </a:p>
          <a:p>
            <a:pPr>
              <a:defRPr/>
            </a:pPr>
            <a:r>
              <a:rPr lang="en-US" sz="3600" dirty="0">
                <a:solidFill>
                  <a:schemeClr val="tx1"/>
                </a:solidFill>
                <a:latin typeface="Times New Roman" panose="02020603050405020304" pitchFamily="18" charset="0"/>
                <a:cs typeface="Times New Roman" panose="02020603050405020304" pitchFamily="18" charset="0"/>
              </a:rPr>
              <a:t>Student ID: 001481129</a:t>
            </a:r>
          </a:p>
          <a:p>
            <a:pPr>
              <a:defRPr/>
            </a:pPr>
            <a:r>
              <a:rPr lang="en-US" sz="3600" dirty="0">
                <a:solidFill>
                  <a:schemeClr val="tx1"/>
                </a:solidFill>
                <a:latin typeface="Times New Roman" panose="02020603050405020304" pitchFamily="18" charset="0"/>
                <a:cs typeface="Times New Roman" panose="02020603050405020304" pitchFamily="18" charset="0"/>
              </a:rPr>
              <a:t>Program: MSc, Applied Artificial Intelligence for Engineering</a:t>
            </a:r>
          </a:p>
        </p:txBody>
      </p:sp>
      <p:sp>
        <p:nvSpPr>
          <p:cNvPr id="7" name="Rectangle 6">
            <a:extLst>
              <a:ext uri="{FF2B5EF4-FFF2-40B4-BE49-F238E27FC236}">
                <a16:creationId xmlns:a16="http://schemas.microsoft.com/office/drawing/2014/main" id="{EB7961C4-715C-3E95-9DAD-F3DE5C96E7D4}"/>
              </a:ext>
            </a:extLst>
          </p:cNvPr>
          <p:cNvSpPr/>
          <p:nvPr/>
        </p:nvSpPr>
        <p:spPr>
          <a:xfrm rot="5400000" flipH="1">
            <a:off x="17291092" y="31911873"/>
            <a:ext cx="1993822" cy="36576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5550" dirty="0">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00C024B1-CBE0-C08C-9DC9-0308D2C9C1E9}"/>
              </a:ext>
            </a:extLst>
          </p:cNvPr>
          <p:cNvCxnSpPr>
            <a:cxnSpLocks/>
          </p:cNvCxnSpPr>
          <p:nvPr/>
        </p:nvCxnSpPr>
        <p:spPr>
          <a:xfrm flipH="1">
            <a:off x="1" y="48799727"/>
            <a:ext cx="36576003" cy="0"/>
          </a:xfrm>
          <a:prstGeom prst="line">
            <a:avLst/>
          </a:prstGeom>
          <a:ln w="254000">
            <a:solidFill>
              <a:schemeClr val="accent5">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BC0016CC-085C-54FF-309E-2B9C49C9BA22}"/>
              </a:ext>
            </a:extLst>
          </p:cNvPr>
          <p:cNvSpPr/>
          <p:nvPr/>
        </p:nvSpPr>
        <p:spPr>
          <a:xfrm rot="5400000" flipH="1">
            <a:off x="17300887" y="-17326437"/>
            <a:ext cx="1993819" cy="3657600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555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19">
                <a:extLst>
                  <a:ext uri="{FF2B5EF4-FFF2-40B4-BE49-F238E27FC236}">
                    <a16:creationId xmlns:a16="http://schemas.microsoft.com/office/drawing/2014/main" id="{A5301859-573C-8BC7-A8D4-F2A2F597E611}"/>
                  </a:ext>
                </a:extLst>
              </p:cNvPr>
              <p:cNvSpPr txBox="1">
                <a:spLocks noChangeArrowheads="1"/>
              </p:cNvSpPr>
              <p:nvPr/>
            </p:nvSpPr>
            <p:spPr bwMode="auto">
              <a:xfrm>
                <a:off x="1012368" y="14118545"/>
                <a:ext cx="16622364" cy="292410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400" dirty="0">
                    <a:latin typeface="Times New Roman" panose="02020603050405020304" pitchFamily="18" charset="0"/>
                    <a:cs typeface="Times New Roman" panose="02020603050405020304" pitchFamily="18" charset="0"/>
                  </a:rPr>
                  <a:t>Band-pass filters are required in the RF and microwave communication systems. They also allow a defined selectivity of signals with the abandonment of interference. The compact low-profile designs have been modified into microstrip-based designs, which are fabrication-friendly and the designs are applicable to the current wireless-based applications [1].</a:t>
                </a:r>
              </a:p>
              <a:p>
                <a:pPr algn="just">
                  <a:lnSpc>
                    <a:spcPct val="110000"/>
                  </a:lnSpc>
                </a:pPr>
                <a:r>
                  <a:rPr lang="en-US" sz="3400" dirty="0">
                    <a:latin typeface="Times New Roman" panose="02020603050405020304" pitchFamily="18" charset="0"/>
                    <a:cs typeface="Times New Roman" panose="02020603050405020304" pitchFamily="18" charset="0"/>
                  </a:rPr>
                  <a:t>A 7-pole Chebyshev microstrip band-pass filter will be designed in this project with a cut-off frequency, 2.0 GHz and a fractional bandwidth, 7 percent. The filter makes use of the folded stepped impedance resonators (FSIRs). It consists of a process of modeling the circuit of the inductor-only filter with J-Inverters of a normalized prototype of a low-pass filter, and the development of the circuit of the microstrip resonator using the obtained data.</a:t>
                </a:r>
              </a:p>
              <a:p>
                <a:pPr algn="just">
                  <a:lnSpc>
                    <a:spcPct val="110000"/>
                  </a:lnSpc>
                </a:pPr>
                <a:endParaRPr lang="en-US" sz="3400" dirty="0">
                  <a:latin typeface="Times New Roman" panose="02020603050405020304" pitchFamily="18" charset="0"/>
                  <a:cs typeface="Times New Roman" panose="02020603050405020304" pitchFamily="18" charset="0"/>
                </a:endParaRPr>
              </a:p>
              <a:p>
                <a:pPr marL="457200" indent="-457200" algn="just">
                  <a:lnSpc>
                    <a:spcPct val="110000"/>
                  </a:lnSpc>
                  <a:buFont typeface="Wingdings" panose="05000000000000000000" pitchFamily="2" charset="2"/>
                  <a:buChar char="§"/>
                </a:pPr>
                <a:r>
                  <a:rPr lang="en-US" sz="3400" b="1" dirty="0">
                    <a:latin typeface="Times New Roman" panose="02020603050405020304" pitchFamily="18" charset="0"/>
                    <a:cs typeface="Times New Roman" panose="02020603050405020304" pitchFamily="18" charset="0"/>
                  </a:rPr>
                  <a:t>Inductor-only Network using J-Inverters</a:t>
                </a:r>
              </a:p>
              <a:p>
                <a:pPr algn="just">
                  <a:lnSpc>
                    <a:spcPct val="110000"/>
                  </a:lnSpc>
                </a:pPr>
                <a:r>
                  <a:rPr lang="en-US" sz="3400" dirty="0">
                    <a:latin typeface="Times New Roman" panose="02020603050405020304" pitchFamily="18" charset="0"/>
                    <a:cs typeface="Times New Roman" panose="02020603050405020304" pitchFamily="18" charset="0"/>
                  </a:rPr>
                  <a:t>A J-inverter is a Pi-network that is composed using either an inductor or a capacitor [1]. In this project, a pi-connection is connected to the inductor to represent the inverter. The equations used for parallel LC are,</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smtClean="0">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𝐿</m:t>
                          </m:r>
                        </m:e>
                        <m:sub>
                          <m:r>
                            <a:rPr lang="en-US" sz="3600" i="1">
                              <a:latin typeface="Cambria Math" panose="02040503050406030204" pitchFamily="18" charset="0"/>
                              <a:cs typeface="Times New Roman" panose="02020603050405020304" pitchFamily="18" charset="0"/>
                            </a:rPr>
                            <m:t>𝑝</m:t>
                          </m:r>
                        </m:sub>
                      </m:sSub>
                      <m:r>
                        <a:rPr lang="en-US" sz="3600" i="1">
                          <a:latin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𝑍</m:t>
                              </m:r>
                            </m:e>
                            <m:sub>
                              <m:r>
                                <a:rPr lang="en-US" sz="3600" i="1">
                                  <a:latin typeface="Cambria Math" panose="02040503050406030204" pitchFamily="18" charset="0"/>
                                  <a:cs typeface="Times New Roman" panose="02020603050405020304" pitchFamily="18" charset="0"/>
                                </a:rPr>
                                <m:t>0</m:t>
                              </m:r>
                            </m:sub>
                          </m:sSub>
                          <m:r>
                            <a:rPr lang="en-US" sz="3600" i="1">
                              <a:latin typeface="Cambria Math" panose="02040503050406030204" pitchFamily="18" charset="0"/>
                              <a:cs typeface="Times New Roman" panose="02020603050405020304" pitchFamily="18" charset="0"/>
                            </a:rPr>
                            <m:t>𝐹𝐵𝑊</m:t>
                          </m:r>
                        </m:num>
                        <m:den>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1</m:t>
                              </m:r>
                            </m:sub>
                          </m:sSub>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𝜔</m:t>
                              </m:r>
                            </m:e>
                            <m:sub>
                              <m:r>
                                <a:rPr lang="en-US" sz="3600" i="1">
                                  <a:latin typeface="Cambria Math" panose="02040503050406030204" pitchFamily="18" charset="0"/>
                                  <a:ea typeface="Cambria Math" panose="02040503050406030204" pitchFamily="18" charset="0"/>
                                  <a:cs typeface="Times New Roman" panose="02020603050405020304" pitchFamily="18" charset="0"/>
                                </a:rPr>
                                <m:t>0</m:t>
                              </m:r>
                            </m:sub>
                          </m:sSub>
                        </m:den>
                      </m:f>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cs typeface="Times New Roman" panose="02020603050405020304" pitchFamily="18" charset="0"/>
                        </a:rPr>
                        <m:t> </m:t>
                      </m:r>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𝐶</m:t>
                          </m:r>
                        </m:e>
                        <m:sub>
                          <m:r>
                            <a:rPr lang="en-US" sz="3600" i="1">
                              <a:latin typeface="Cambria Math" panose="02040503050406030204" pitchFamily="18" charset="0"/>
                              <a:cs typeface="Times New Roman" panose="02020603050405020304" pitchFamily="18" charset="0"/>
                            </a:rPr>
                            <m:t>𝑝</m:t>
                          </m:r>
                        </m:sub>
                      </m:sSub>
                      <m:r>
                        <a:rPr lang="en-US" sz="3600" i="1">
                          <a:latin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1</m:t>
                              </m:r>
                            </m:sub>
                          </m:sSub>
                        </m:num>
                        <m:den>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𝑍</m:t>
                              </m:r>
                            </m:e>
                            <m:sub>
                              <m:r>
                                <a:rPr lang="en-US" sz="3600" i="1">
                                  <a:latin typeface="Cambria Math" panose="02040503050406030204" pitchFamily="18" charset="0"/>
                                  <a:cs typeface="Times New Roman" panose="02020603050405020304" pitchFamily="18" charset="0"/>
                                </a:rPr>
                                <m:t>0</m:t>
                              </m:r>
                            </m:sub>
                          </m:sSub>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𝜔</m:t>
                              </m:r>
                            </m:e>
                            <m:sub>
                              <m:r>
                                <a:rPr lang="en-US" sz="3600" i="1">
                                  <a:latin typeface="Cambria Math" panose="02040503050406030204" pitchFamily="18" charset="0"/>
                                  <a:ea typeface="Cambria Math" panose="02040503050406030204" pitchFamily="18" charset="0"/>
                                  <a:cs typeface="Times New Roman" panose="02020603050405020304" pitchFamily="18" charset="0"/>
                                </a:rPr>
                                <m:t>0</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𝐹𝐵𝑊</m:t>
                          </m:r>
                        </m:den>
                      </m:f>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r>
                  <a:rPr lang="en-US" sz="3400" dirty="0">
                    <a:latin typeface="Times New Roman" panose="02020603050405020304" pitchFamily="18" charset="0"/>
                    <a:cs typeface="Times New Roman" panose="02020603050405020304" pitchFamily="18" charset="0"/>
                  </a:rPr>
                  <a:t>These LC values are used throughout the network. Now to calculate J-inverter values, the equation is:</a:t>
                </a:r>
              </a:p>
              <a:p>
                <a:pPr algn="ctr">
                  <a:lnSpc>
                    <a:spcPct val="110000"/>
                  </a:lnSpc>
                </a:pPr>
                <a14:m>
                  <m:oMath xmlns:m="http://schemas.openxmlformats.org/officeDocument/2006/math">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𝐽</m:t>
                        </m:r>
                      </m:e>
                      <m:sub>
                        <m:r>
                          <a:rPr lang="en-US" sz="3600" i="1">
                            <a:latin typeface="Cambria Math" panose="02040503050406030204" pitchFamily="18" charset="0"/>
                            <a:cs typeface="Times New Roman" panose="02020603050405020304" pitchFamily="18" charset="0"/>
                          </a:rPr>
                          <m:t>𝑘</m:t>
                        </m:r>
                        <m:r>
                          <a:rPr lang="en-US" sz="3600" i="1">
                            <a:latin typeface="Cambria Math" panose="02040503050406030204" pitchFamily="18" charset="0"/>
                            <a:cs typeface="Times New Roman" panose="02020603050405020304" pitchFamily="18" charset="0"/>
                          </a:rPr>
                          <m:t>, </m:t>
                        </m:r>
                        <m:r>
                          <a:rPr lang="en-US" sz="3600" i="1">
                            <a:latin typeface="Cambria Math" panose="02040503050406030204" pitchFamily="18" charset="0"/>
                            <a:cs typeface="Times New Roman" panose="02020603050405020304" pitchFamily="18" charset="0"/>
                          </a:rPr>
                          <m:t>𝑘</m:t>
                        </m:r>
                        <m:r>
                          <a:rPr lang="en-US" sz="3600" i="1">
                            <a:latin typeface="Cambria Math" panose="02040503050406030204" pitchFamily="18" charset="0"/>
                            <a:cs typeface="Times New Roman" panose="02020603050405020304" pitchFamily="18" charset="0"/>
                          </a:rPr>
                          <m:t>+1</m:t>
                        </m:r>
                      </m:sub>
                    </m:sSub>
                    <m:r>
                      <a:rPr lang="en-US" sz="3600" i="1">
                        <a:latin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cs typeface="Times New Roman" panose="02020603050405020304" pitchFamily="18" charset="0"/>
                          </a:rPr>
                        </m:ctrlPr>
                      </m:fPr>
                      <m:num>
                        <m:rad>
                          <m:radPr>
                            <m:degHide m:val="on"/>
                            <m:ctrlPr>
                              <a:rPr lang="en-US" sz="3600" i="1">
                                <a:latin typeface="Cambria Math" panose="02040503050406030204" pitchFamily="18" charset="0"/>
                                <a:cs typeface="Times New Roman" panose="02020603050405020304" pitchFamily="18" charset="0"/>
                              </a:rPr>
                            </m:ctrlPr>
                          </m:radPr>
                          <m:deg/>
                          <m:e>
                            <m:f>
                              <m:fPr>
                                <m:ctrlPr>
                                  <a:rPr lang="en-US" sz="3600" i="1">
                                    <a:latin typeface="Cambria Math" panose="02040503050406030204" pitchFamily="18" charset="0"/>
                                    <a:cs typeface="Times New Roman" panose="02020603050405020304" pitchFamily="18" charset="0"/>
                                  </a:rPr>
                                </m:ctrlPr>
                              </m:fPr>
                              <m:num>
                                <m:sSubSup>
                                  <m:sSubSupPr>
                                    <m:ctrlPr>
                                      <a:rPr lang="en-US" sz="3600" i="1">
                                        <a:latin typeface="Cambria Math" panose="02040503050406030204" pitchFamily="18" charset="0"/>
                                        <a:cs typeface="Times New Roman" panose="02020603050405020304" pitchFamily="18" charset="0"/>
                                      </a:rPr>
                                    </m:ctrlPr>
                                  </m:sSubSup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1</m:t>
                                    </m:r>
                                  </m:sub>
                                  <m:sup>
                                    <m:r>
                                      <a:rPr lang="en-US" sz="3600" i="1">
                                        <a:latin typeface="Cambria Math" panose="02040503050406030204" pitchFamily="18" charset="0"/>
                                        <a:cs typeface="Times New Roman" panose="02020603050405020304" pitchFamily="18" charset="0"/>
                                      </a:rPr>
                                      <m:t>2</m:t>
                                    </m:r>
                                  </m:sup>
                                </m:sSubSup>
                              </m:num>
                              <m:den>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𝑘</m:t>
                                    </m:r>
                                  </m:sub>
                                </m:sSub>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𝑘</m:t>
                                    </m:r>
                                    <m:r>
                                      <a:rPr lang="en-US" sz="3600" i="1">
                                        <a:latin typeface="Cambria Math" panose="02040503050406030204" pitchFamily="18" charset="0"/>
                                        <a:cs typeface="Times New Roman" panose="02020603050405020304" pitchFamily="18" charset="0"/>
                                      </a:rPr>
                                      <m:t>+1</m:t>
                                    </m:r>
                                  </m:sub>
                                </m:sSub>
                              </m:den>
                            </m:f>
                          </m:e>
                        </m:rad>
                      </m:num>
                      <m:den>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𝑍</m:t>
                            </m:r>
                          </m:e>
                          <m:sub>
                            <m:r>
                              <a:rPr lang="en-US" sz="3600" i="1">
                                <a:latin typeface="Cambria Math" panose="02040503050406030204" pitchFamily="18" charset="0"/>
                                <a:cs typeface="Times New Roman" panose="02020603050405020304" pitchFamily="18" charset="0"/>
                              </a:rPr>
                              <m:t>0</m:t>
                            </m:r>
                          </m:sub>
                        </m:sSub>
                      </m:den>
                    </m:f>
                  </m:oMath>
                </a14:m>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k = </a:t>
                </a:r>
                <a:r>
                  <a:rPr lang="en-US" sz="3600" dirty="0">
                    <a:latin typeface="Times New Roman" panose="02020603050405020304" pitchFamily="18" charset="0"/>
                    <a:cs typeface="Times New Roman" panose="02020603050405020304" pitchFamily="18" charset="0"/>
                  </a:rPr>
                  <a:t>1, 2, 3…</a:t>
                </a:r>
              </a:p>
              <a:p>
                <a:pPr algn="just">
                  <a:lnSpc>
                    <a:spcPct val="110000"/>
                  </a:lnSpc>
                </a:pPr>
                <a:r>
                  <a:rPr lang="en-US" sz="3400" dirty="0">
                    <a:latin typeface="Times New Roman" panose="02020603050405020304" pitchFamily="18" charset="0"/>
                    <a:cs typeface="Times New Roman" panose="02020603050405020304" pitchFamily="18" charset="0"/>
                  </a:rPr>
                  <a:t>For J</a:t>
                </a:r>
                <a:r>
                  <a:rPr lang="en-US" sz="3400" baseline="-25000" dirty="0">
                    <a:latin typeface="Times New Roman" panose="02020603050405020304" pitchFamily="18" charset="0"/>
                    <a:cs typeface="Times New Roman" panose="02020603050405020304" pitchFamily="18" charset="0"/>
                  </a:rPr>
                  <a:t>0,1 </a:t>
                </a:r>
                <a:r>
                  <a:rPr lang="en-US" sz="3400" dirty="0">
                    <a:latin typeface="Times New Roman" panose="02020603050405020304" pitchFamily="18" charset="0"/>
                    <a:cs typeface="Times New Roman" panose="02020603050405020304" pitchFamily="18" charset="0"/>
                  </a:rPr>
                  <a:t>the equation is,</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𝐽</m:t>
                          </m:r>
                        </m:e>
                        <m:sub>
                          <m:r>
                            <a:rPr lang="en-US" sz="3600" i="1">
                              <a:latin typeface="Cambria Math" panose="02040503050406030204" pitchFamily="18" charset="0"/>
                              <a:cs typeface="Times New Roman" panose="02020603050405020304" pitchFamily="18" charset="0"/>
                            </a:rPr>
                            <m:t>0,1</m:t>
                          </m:r>
                        </m:sub>
                      </m:sSub>
                      <m:r>
                        <a:rPr lang="en-US" sz="3600" i="1">
                          <a:latin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0</m:t>
                              </m:r>
                            </m:sub>
                          </m:sSub>
                        </m:num>
                        <m:den>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𝑍</m:t>
                              </m:r>
                            </m:e>
                            <m:sub>
                              <m:r>
                                <a:rPr lang="en-US" sz="3600" i="1">
                                  <a:latin typeface="Cambria Math" panose="02040503050406030204" pitchFamily="18" charset="0"/>
                                  <a:cs typeface="Times New Roman" panose="02020603050405020304" pitchFamily="18" charset="0"/>
                                </a:rPr>
                                <m:t>0</m:t>
                              </m:r>
                            </m:sub>
                          </m:sSub>
                        </m:den>
                      </m:f>
                    </m:oMath>
                  </m:oMathPara>
                </a14:m>
                <a:endParaRPr lang="en-US" sz="3600" baseline="-25000" dirty="0">
                  <a:latin typeface="Times New Roman" panose="02020603050405020304" pitchFamily="18" charset="0"/>
                  <a:cs typeface="Times New Roman" panose="02020603050405020304" pitchFamily="18" charset="0"/>
                </a:endParaRPr>
              </a:p>
              <a:p>
                <a:pPr algn="just">
                  <a:lnSpc>
                    <a:spcPct val="110000"/>
                  </a:lnSpc>
                </a:pPr>
                <a:r>
                  <a:rPr lang="en-US" sz="3400" dirty="0">
                    <a:latin typeface="Times New Roman" panose="02020603050405020304" pitchFamily="18" charset="0"/>
                    <a:cs typeface="Times New Roman" panose="02020603050405020304" pitchFamily="18" charset="0"/>
                  </a:rPr>
                  <a:t>Here, inductor values are obtained from J-values using this equation,</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𝐿</m:t>
                          </m:r>
                        </m:e>
                        <m:sub>
                          <m:r>
                            <a:rPr lang="en-US" sz="3600" i="1">
                              <a:latin typeface="Cambria Math" panose="02040503050406030204" pitchFamily="18" charset="0"/>
                              <a:cs typeface="Times New Roman" panose="02020603050405020304" pitchFamily="18" charset="0"/>
                            </a:rPr>
                            <m:t>𝑘</m:t>
                          </m:r>
                          <m:r>
                            <a:rPr lang="en-US" sz="3600" i="1">
                              <a:latin typeface="Cambria Math" panose="02040503050406030204" pitchFamily="18" charset="0"/>
                              <a:cs typeface="Times New Roman" panose="02020603050405020304" pitchFamily="18" charset="0"/>
                            </a:rPr>
                            <m:t>, </m:t>
                          </m:r>
                          <m:r>
                            <a:rPr lang="en-US" sz="3600" i="1">
                              <a:latin typeface="Cambria Math" panose="02040503050406030204" pitchFamily="18" charset="0"/>
                              <a:cs typeface="Times New Roman" panose="02020603050405020304" pitchFamily="18" charset="0"/>
                            </a:rPr>
                            <m:t>𝑘</m:t>
                          </m:r>
                          <m:r>
                            <a:rPr lang="en-US" sz="3600" i="1">
                              <a:latin typeface="Cambria Math" panose="02040503050406030204" pitchFamily="18" charset="0"/>
                              <a:cs typeface="Times New Roman" panose="02020603050405020304" pitchFamily="18" charset="0"/>
                            </a:rPr>
                            <m:t>+1</m:t>
                          </m:r>
                        </m:sub>
                      </m:sSub>
                      <m:r>
                        <a:rPr lang="en-US" sz="3600" i="1">
                          <a:latin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cs typeface="Times New Roman" panose="02020603050405020304" pitchFamily="18" charset="0"/>
                            </a:rPr>
                          </m:ctrlPr>
                        </m:fPr>
                        <m:num>
                          <m:r>
                            <a:rPr lang="en-US" sz="3600" i="1">
                              <a:latin typeface="Cambria Math" panose="02040503050406030204" pitchFamily="18" charset="0"/>
                              <a:cs typeface="Times New Roman" panose="02020603050405020304" pitchFamily="18" charset="0"/>
                            </a:rPr>
                            <m:t>1</m:t>
                          </m:r>
                        </m:num>
                        <m:den>
                          <m:r>
                            <a:rPr lang="en-US" sz="3600" i="1">
                              <a:latin typeface="Cambria Math" panose="02040503050406030204" pitchFamily="18" charset="0"/>
                              <a:ea typeface="Cambria Math" panose="02040503050406030204" pitchFamily="18" charset="0"/>
                              <a:cs typeface="Times New Roman" panose="02020603050405020304" pitchFamily="18" charset="0"/>
                            </a:rPr>
                            <m:t>𝜔</m:t>
                          </m:r>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𝐽</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𝑘</m:t>
                              </m:r>
                              <m:r>
                                <a:rPr lang="en-US" sz="3600" i="1">
                                  <a:latin typeface="Cambria Math" panose="02040503050406030204" pitchFamily="18" charset="0"/>
                                  <a:ea typeface="Cambria Math" panose="02040503050406030204" pitchFamily="18" charset="0"/>
                                  <a:cs typeface="Times New Roman" panose="02020603050405020304" pitchFamily="18" charset="0"/>
                                </a:rPr>
                                <m:t>,</m:t>
                              </m:r>
                              <m:r>
                                <a:rPr lang="en-US" sz="3600" i="1">
                                  <a:latin typeface="Cambria Math" panose="02040503050406030204" pitchFamily="18" charset="0"/>
                                  <a:ea typeface="Cambria Math" panose="02040503050406030204" pitchFamily="18" charset="0"/>
                                  <a:cs typeface="Times New Roman" panose="02020603050405020304" pitchFamily="18" charset="0"/>
                                </a:rPr>
                                <m:t>𝑘</m:t>
                              </m:r>
                              <m:r>
                                <a:rPr lang="en-US" sz="3600" i="1">
                                  <a:latin typeface="Cambria Math" panose="02040503050406030204" pitchFamily="18" charset="0"/>
                                  <a:ea typeface="Cambria Math" panose="02040503050406030204" pitchFamily="18" charset="0"/>
                                  <a:cs typeface="Times New Roman" panose="02020603050405020304" pitchFamily="18" charset="0"/>
                                </a:rPr>
                                <m:t>+1</m:t>
                              </m:r>
                            </m:sub>
                          </m:sSub>
                        </m:den>
                      </m:f>
                      <m:r>
                        <a:rPr lang="en-US" sz="3600" i="1">
                          <a:latin typeface="Cambria Math" panose="02040503050406030204" pitchFamily="18" charset="0"/>
                          <a:cs typeface="Times New Roman" panose="02020603050405020304" pitchFamily="18" charset="0"/>
                        </a:rPr>
                        <m:t>    (</m:t>
                      </m:r>
                      <m:r>
                        <a:rPr lang="en-US" sz="3600" i="1">
                          <a:latin typeface="Cambria Math" panose="02040503050406030204" pitchFamily="18" charset="0"/>
                          <a:ea typeface="Cambria Math" panose="02040503050406030204" pitchFamily="18" charset="0"/>
                          <a:cs typeface="Times New Roman" panose="02020603050405020304" pitchFamily="18" charset="0"/>
                        </a:rPr>
                        <m:t>𝜔</m:t>
                      </m:r>
                      <m:r>
                        <a:rPr lang="en-US" sz="3600" i="1">
                          <a:latin typeface="Cambria Math" panose="02040503050406030204" pitchFamily="18" charset="0"/>
                          <a:ea typeface="Cambria Math" panose="02040503050406030204" pitchFamily="18" charset="0"/>
                          <a:cs typeface="Times New Roman" panose="02020603050405020304" pitchFamily="18" charset="0"/>
                        </a:rPr>
                        <m:t>=2</m:t>
                      </m:r>
                      <m:r>
                        <a:rPr lang="en-US" sz="3600" i="1">
                          <a:latin typeface="Cambria Math" panose="02040503050406030204" pitchFamily="18" charset="0"/>
                          <a:ea typeface="Cambria Math" panose="02040503050406030204" pitchFamily="18" charset="0"/>
                          <a:cs typeface="Times New Roman" panose="02020603050405020304" pitchFamily="18" charset="0"/>
                        </a:rPr>
                        <m:t>𝜋</m:t>
                      </m:r>
                      <m:r>
                        <a:rPr lang="en-US" sz="3600" i="1">
                          <a:latin typeface="Cambria Math" panose="02040503050406030204" pitchFamily="18" charset="0"/>
                          <a:ea typeface="Cambria Math" panose="02040503050406030204" pitchFamily="18" charset="0"/>
                          <a:cs typeface="Times New Roman" panose="02020603050405020304" pitchFamily="18" charset="0"/>
                        </a:rPr>
                        <m:t>𝑓</m:t>
                      </m:r>
                      <m:r>
                        <a:rPr lang="en-US" sz="36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sz="3600" dirty="0">
                  <a:latin typeface="Times New Roman" panose="02020603050405020304" pitchFamily="18" charset="0"/>
                  <a:cs typeface="Times New Roman" panose="02020603050405020304" pitchFamily="18" charset="0"/>
                </a:endParaRPr>
              </a:p>
              <a:p>
                <a:pPr marL="457200" indent="-457200" algn="just">
                  <a:lnSpc>
                    <a:spcPct val="110000"/>
                  </a:lnSpc>
                  <a:buFont typeface="Wingdings" panose="05000000000000000000" pitchFamily="2" charset="2"/>
                  <a:buChar char="§"/>
                </a:pPr>
                <a:r>
                  <a:rPr lang="en-US" sz="3400" b="1" dirty="0">
                    <a:latin typeface="Times New Roman" panose="02020603050405020304" pitchFamily="18" charset="0"/>
                    <a:cs typeface="Times New Roman" panose="02020603050405020304" pitchFamily="18" charset="0"/>
                  </a:rPr>
                  <a:t>Folded Stepped-Impedance Resonator (FSIR)</a:t>
                </a:r>
              </a:p>
              <a:p>
                <a:pPr algn="just">
                  <a:lnSpc>
                    <a:spcPct val="110000"/>
                  </a:lnSpc>
                </a:pPr>
                <a:r>
                  <a:rPr lang="en-US" sz="3400" dirty="0">
                    <a:latin typeface="Times New Roman" panose="02020603050405020304" pitchFamily="18" charset="0"/>
                    <a:cs typeface="Times New Roman" panose="02020603050405020304" pitchFamily="18" charset="0"/>
                  </a:rPr>
                  <a:t>To implement of the FSIR, the below equations are used:</a:t>
                </a:r>
              </a:p>
              <a:p>
                <a:pPr algn="just">
                  <a:lnSpc>
                    <a:spcPct val="110000"/>
                  </a:lnSpc>
                </a:pPr>
                <a:r>
                  <a:rPr lang="en-US" sz="3400" dirty="0">
                    <a:latin typeface="Times New Roman" panose="02020603050405020304" pitchFamily="18" charset="0"/>
                    <a:cs typeface="Times New Roman" panose="02020603050405020304" pitchFamily="18" charset="0"/>
                  </a:rPr>
                  <a:t>Coupling Co-efficient and External Quality Factor [2],</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𝐾</m:t>
                          </m:r>
                        </m:e>
                        <m:sub>
                          <m:r>
                            <a:rPr lang="en-US" sz="3600" i="1">
                              <a:latin typeface="Cambria Math" panose="02040503050406030204" pitchFamily="18" charset="0"/>
                              <a:cs typeface="Times New Roman" panose="02020603050405020304" pitchFamily="18" charset="0"/>
                            </a:rPr>
                            <m:t>𝑑</m:t>
                          </m:r>
                          <m:r>
                            <a:rPr lang="en-US" sz="3600" i="1">
                              <a:latin typeface="Cambria Math" panose="02040503050406030204" pitchFamily="18" charset="0"/>
                              <a:cs typeface="Times New Roman" panose="02020603050405020304" pitchFamily="18" charset="0"/>
                            </a:rPr>
                            <m:t>, </m:t>
                          </m:r>
                          <m:r>
                            <a:rPr lang="en-US" sz="3600" i="1">
                              <a:latin typeface="Cambria Math" panose="02040503050406030204" pitchFamily="18" charset="0"/>
                              <a:cs typeface="Times New Roman" panose="02020603050405020304" pitchFamily="18" charset="0"/>
                            </a:rPr>
                            <m:t>𝑑</m:t>
                          </m:r>
                          <m:r>
                            <a:rPr lang="en-US" sz="3600" i="1">
                              <a:latin typeface="Cambria Math" panose="02040503050406030204" pitchFamily="18" charset="0"/>
                              <a:cs typeface="Times New Roman" panose="02020603050405020304" pitchFamily="18" charset="0"/>
                            </a:rPr>
                            <m:t>+1</m:t>
                          </m:r>
                        </m:sub>
                      </m:sSub>
                      <m:r>
                        <a:rPr lang="en-US" sz="3600" i="1">
                          <a:latin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cs typeface="Times New Roman" panose="02020603050405020304" pitchFamily="18" charset="0"/>
                            </a:rPr>
                          </m:ctrlPr>
                        </m:fPr>
                        <m:num>
                          <m:r>
                            <a:rPr lang="en-US" sz="3600" i="1">
                              <a:latin typeface="Cambria Math" panose="02040503050406030204" pitchFamily="18" charset="0"/>
                              <a:cs typeface="Times New Roman" panose="02020603050405020304" pitchFamily="18" charset="0"/>
                            </a:rPr>
                            <m:t>𝐹𝐵𝑊</m:t>
                          </m:r>
                        </m:num>
                        <m:den>
                          <m:rad>
                            <m:radPr>
                              <m:degHide m:val="on"/>
                              <m:ctrlPr>
                                <a:rPr lang="en-US" sz="3600" i="1">
                                  <a:latin typeface="Cambria Math" panose="02040503050406030204" pitchFamily="18" charset="0"/>
                                  <a:cs typeface="Times New Roman" panose="02020603050405020304" pitchFamily="18" charset="0"/>
                                </a:rPr>
                              </m:ctrlPr>
                            </m:radPr>
                            <m:deg/>
                            <m:e>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𝑑</m:t>
                                  </m:r>
                                </m:sub>
                              </m:sSub>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𝑑</m:t>
                                  </m:r>
                                  <m:r>
                                    <a:rPr lang="en-US" sz="3600" i="1">
                                      <a:latin typeface="Cambria Math" panose="02040503050406030204" pitchFamily="18" charset="0"/>
                                      <a:cs typeface="Times New Roman" panose="02020603050405020304" pitchFamily="18" charset="0"/>
                                    </a:rPr>
                                    <m:t>+1</m:t>
                                  </m:r>
                                </m:sub>
                              </m:sSub>
                            </m:e>
                          </m:rad>
                        </m:den>
                      </m:f>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endParaRPr lang="en-US" sz="900" dirty="0">
                  <a:latin typeface="Times New Roman" panose="02020603050405020304" pitchFamily="18" charset="0"/>
                  <a:cs typeface="Times New Roman" panose="02020603050405020304" pitchFamily="18" charset="0"/>
                </a:endParaRP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𝑄</m:t>
                          </m:r>
                        </m:e>
                        <m:sub>
                          <m:r>
                            <a:rPr lang="en-US" sz="3600" b="0" i="1" smtClean="0">
                              <a:latin typeface="Cambria Math" panose="02040503050406030204" pitchFamily="18" charset="0"/>
                              <a:cs typeface="Times New Roman" panose="02020603050405020304" pitchFamily="18" charset="0"/>
                            </a:rPr>
                            <m:t>(</m:t>
                          </m:r>
                          <m:r>
                            <a:rPr lang="en-US" sz="3600" i="1">
                              <a:latin typeface="Cambria Math" panose="02040503050406030204" pitchFamily="18" charset="0"/>
                              <a:cs typeface="Times New Roman" panose="02020603050405020304" pitchFamily="18" charset="0"/>
                            </a:rPr>
                            <m:t>𝑒𝑥𝑡</m:t>
                          </m:r>
                          <m:r>
                            <a:rPr lang="en-US" sz="3600" b="0" i="1" smtClean="0">
                              <a:latin typeface="Cambria Math" panose="02040503050406030204" pitchFamily="18" charset="0"/>
                              <a:cs typeface="Times New Roman" panose="02020603050405020304" pitchFamily="18" charset="0"/>
                            </a:rPr>
                            <m:t>)</m:t>
                          </m:r>
                        </m:sub>
                      </m:sSub>
                      <m:r>
                        <a:rPr lang="en-US" sz="3600" i="1">
                          <a:latin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0</m:t>
                              </m:r>
                            </m:sub>
                          </m:sSub>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𝑔</m:t>
                              </m:r>
                            </m:e>
                            <m:sub>
                              <m:r>
                                <a:rPr lang="en-US" sz="3600" i="1">
                                  <a:latin typeface="Cambria Math" panose="02040503050406030204" pitchFamily="18" charset="0"/>
                                  <a:cs typeface="Times New Roman" panose="02020603050405020304" pitchFamily="18" charset="0"/>
                                </a:rPr>
                                <m:t>1</m:t>
                              </m:r>
                            </m:sub>
                          </m:sSub>
                        </m:num>
                        <m:den>
                          <m:r>
                            <a:rPr lang="en-US" sz="3600" i="1">
                              <a:latin typeface="Cambria Math" panose="02040503050406030204" pitchFamily="18" charset="0"/>
                              <a:cs typeface="Times New Roman" panose="02020603050405020304" pitchFamily="18" charset="0"/>
                            </a:rPr>
                            <m:t>𝐹𝐵𝑊</m:t>
                          </m:r>
                        </m:den>
                      </m:f>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r>
                  <a:rPr lang="en-US" sz="3400" dirty="0">
                    <a:latin typeface="Times New Roman" panose="02020603050405020304" pitchFamily="18" charset="0"/>
                    <a:cs typeface="Times New Roman" panose="02020603050405020304" pitchFamily="18" charset="0"/>
                  </a:rPr>
                  <a:t>For w/h &lt;= 2,</a:t>
                </a:r>
              </a:p>
              <a:p>
                <a:pPr algn="ctr">
                  <a:lnSpc>
                    <a:spcPct val="110000"/>
                  </a:lnSpc>
                </a:pPr>
                <a14:m>
                  <m:oMath xmlns:m="http://schemas.openxmlformats.org/officeDocument/2006/math">
                    <m:r>
                      <a:rPr lang="en-US" sz="3600" i="1">
                        <a:latin typeface="Cambria Math" panose="02040503050406030204" pitchFamily="18" charset="0"/>
                        <a:cs typeface="Times New Roman" panose="02020603050405020304" pitchFamily="18" charset="0"/>
                      </a:rPr>
                      <m:t>𝑤𝑖𝑑𝑡h</m:t>
                    </m:r>
                    <m:r>
                      <a:rPr lang="en-US" sz="3600" i="1">
                        <a:latin typeface="Cambria Math" panose="02040503050406030204" pitchFamily="18" charset="0"/>
                        <a:cs typeface="Times New Roman" panose="02020603050405020304" pitchFamily="18" charset="0"/>
                      </a:rPr>
                      <m:t>, </m:t>
                    </m:r>
                    <m:r>
                      <a:rPr lang="en-US" sz="3600" i="1">
                        <a:latin typeface="Cambria Math" panose="02040503050406030204" pitchFamily="18" charset="0"/>
                        <a:cs typeface="Times New Roman" panose="02020603050405020304" pitchFamily="18" charset="0"/>
                      </a:rPr>
                      <m:t>𝑤</m:t>
                    </m:r>
                    <m:r>
                      <a:rPr lang="en-US" sz="3600" i="1">
                        <a:latin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cs typeface="Times New Roman" panose="02020603050405020304" pitchFamily="18" charset="0"/>
                          </a:rPr>
                        </m:ctrlPr>
                      </m:fPr>
                      <m:num>
                        <m:r>
                          <a:rPr lang="en-US" sz="3600" i="1">
                            <a:latin typeface="Cambria Math" panose="02040503050406030204" pitchFamily="18" charset="0"/>
                            <a:cs typeface="Times New Roman" panose="02020603050405020304" pitchFamily="18" charset="0"/>
                          </a:rPr>
                          <m:t>8</m:t>
                        </m:r>
                        <m:r>
                          <a:rPr lang="en-US" sz="3600" i="1">
                            <a:latin typeface="Cambria Math" panose="02040503050406030204" pitchFamily="18" charset="0"/>
                            <a:cs typeface="Times New Roman" panose="02020603050405020304" pitchFamily="18" charset="0"/>
                          </a:rPr>
                          <m:t>h</m:t>
                        </m:r>
                        <m:sSup>
                          <m:sSupPr>
                            <m:ctrlPr>
                              <a:rPr lang="en-US" sz="3600" i="1">
                                <a:latin typeface="Cambria Math" panose="02040503050406030204" pitchFamily="18" charset="0"/>
                                <a:cs typeface="Times New Roman" panose="02020603050405020304" pitchFamily="18" charset="0"/>
                              </a:rPr>
                            </m:ctrlPr>
                          </m:sSupPr>
                          <m:e>
                            <m:r>
                              <a:rPr lang="en-US" sz="3600" i="1">
                                <a:latin typeface="Cambria Math" panose="02040503050406030204" pitchFamily="18" charset="0"/>
                                <a:cs typeface="Times New Roman" panose="02020603050405020304" pitchFamily="18" charset="0"/>
                              </a:rPr>
                              <m:t>𝑒</m:t>
                            </m:r>
                          </m:e>
                          <m:sup>
                            <m:r>
                              <a:rPr lang="en-US" sz="3600" i="1">
                                <a:latin typeface="Cambria Math" panose="02040503050406030204" pitchFamily="18" charset="0"/>
                                <a:cs typeface="Times New Roman" panose="02020603050405020304" pitchFamily="18" charset="0"/>
                              </a:rPr>
                              <m:t>𝐴</m:t>
                            </m:r>
                          </m:sup>
                        </m:sSup>
                      </m:num>
                      <m:den>
                        <m:sSup>
                          <m:sSupPr>
                            <m:ctrlPr>
                              <a:rPr lang="en-US" sz="3600" i="1">
                                <a:latin typeface="Cambria Math" panose="02040503050406030204" pitchFamily="18" charset="0"/>
                                <a:cs typeface="Times New Roman" panose="02020603050405020304" pitchFamily="18" charset="0"/>
                              </a:rPr>
                            </m:ctrlPr>
                          </m:sSupPr>
                          <m:e>
                            <m:r>
                              <a:rPr lang="en-US" sz="3600" i="1">
                                <a:latin typeface="Cambria Math" panose="02040503050406030204" pitchFamily="18" charset="0"/>
                                <a:cs typeface="Times New Roman" panose="02020603050405020304" pitchFamily="18" charset="0"/>
                              </a:rPr>
                              <m:t>𝑒</m:t>
                            </m:r>
                          </m:e>
                          <m:sup>
                            <m:r>
                              <a:rPr lang="en-US" sz="3600" i="1">
                                <a:latin typeface="Cambria Math" panose="02040503050406030204" pitchFamily="18" charset="0"/>
                                <a:cs typeface="Times New Roman" panose="02020603050405020304" pitchFamily="18" charset="0"/>
                              </a:rPr>
                              <m:t>2</m:t>
                            </m:r>
                            <m:r>
                              <a:rPr lang="en-US" sz="3600" i="1">
                                <a:latin typeface="Cambria Math" panose="02040503050406030204" pitchFamily="18" charset="0"/>
                                <a:cs typeface="Times New Roman" panose="02020603050405020304" pitchFamily="18" charset="0"/>
                              </a:rPr>
                              <m:t>𝐴</m:t>
                            </m:r>
                          </m:sup>
                        </m:sSup>
                        <m:r>
                          <a:rPr lang="en-US" sz="3600" i="1">
                            <a:latin typeface="Cambria Math" panose="02040503050406030204" pitchFamily="18" charset="0"/>
                            <a:cs typeface="Times New Roman" panose="02020603050405020304" pitchFamily="18" charset="0"/>
                          </a:rPr>
                          <m:t>−2</m:t>
                        </m:r>
                      </m:den>
                    </m:f>
                  </m:oMath>
                </a14:m>
                <a:r>
                  <a:rPr lang="en-US" sz="3600" dirty="0">
                    <a:latin typeface="Times New Roman" panose="02020603050405020304" pitchFamily="18" charset="0"/>
                    <a:cs typeface="Times New Roman" panose="02020603050405020304" pitchFamily="18" charset="0"/>
                  </a:rPr>
                  <a:t> </a:t>
                </a:r>
              </a:p>
              <a:p>
                <a:pPr algn="ctr">
                  <a:lnSpc>
                    <a:spcPct val="110000"/>
                  </a:lnSpc>
                </a:pPr>
                <a14:m>
                  <m:oMathPara xmlns:m="http://schemas.openxmlformats.org/officeDocument/2006/math">
                    <m:oMathParaPr>
                      <m:jc m:val="centerGroup"/>
                    </m:oMathParaPr>
                    <m:oMath xmlns:m="http://schemas.openxmlformats.org/officeDocument/2006/math">
                      <m:r>
                        <a:rPr lang="en-US" sz="3600" i="1">
                          <a:latin typeface="Cambria Math" panose="02040503050406030204" pitchFamily="18" charset="0"/>
                          <a:cs typeface="Times New Roman" panose="02020603050405020304" pitchFamily="18" charset="0"/>
                        </a:rPr>
                        <m:t>𝐴</m:t>
                      </m:r>
                      <m:r>
                        <a:rPr lang="en-US" sz="3600" i="1">
                          <a:latin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cs typeface="Times New Roman" panose="02020603050405020304" pitchFamily="18" charset="0"/>
                                </a:rPr>
                                <m:t>𝑍</m:t>
                              </m:r>
                            </m:e>
                            <m:sub>
                              <m:r>
                                <a:rPr lang="en-US" sz="3600" i="1">
                                  <a:latin typeface="Cambria Math" panose="02040503050406030204" pitchFamily="18" charset="0"/>
                                  <a:cs typeface="Times New Roman" panose="02020603050405020304" pitchFamily="18" charset="0"/>
                                </a:rPr>
                                <m:t>0</m:t>
                              </m:r>
                            </m:sub>
                          </m:sSub>
                        </m:num>
                        <m:den>
                          <m:r>
                            <a:rPr lang="en-US" sz="3600" i="1">
                              <a:latin typeface="Cambria Math" panose="02040503050406030204" pitchFamily="18" charset="0"/>
                              <a:cs typeface="Times New Roman" panose="02020603050405020304" pitchFamily="18" charset="0"/>
                            </a:rPr>
                            <m:t>60</m:t>
                          </m:r>
                        </m:den>
                      </m:f>
                      <m:rad>
                        <m:radPr>
                          <m:degHide m:val="on"/>
                          <m:ctrlPr>
                            <a:rPr lang="en-US" sz="3600" i="1">
                              <a:latin typeface="Cambria Math" panose="02040503050406030204" pitchFamily="18" charset="0"/>
                              <a:cs typeface="Times New Roman" panose="02020603050405020304" pitchFamily="18" charset="0"/>
                            </a:rPr>
                          </m:ctrlPr>
                        </m:radPr>
                        <m:deg/>
                        <m:e>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+1</m:t>
                              </m:r>
                            </m:num>
                            <m:den>
                              <m:r>
                                <a:rPr lang="en-US" sz="3600" i="1">
                                  <a:latin typeface="Cambria Math" panose="02040503050406030204" pitchFamily="18" charset="0"/>
                                  <a:cs typeface="Times New Roman" panose="02020603050405020304" pitchFamily="18" charset="0"/>
                                </a:rPr>
                                <m:t>2</m:t>
                              </m:r>
                            </m:den>
                          </m:f>
                        </m:e>
                      </m:rad>
                      <m:r>
                        <a:rPr lang="en-US" sz="3600" i="1">
                          <a:latin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−1</m:t>
                          </m:r>
                        </m:num>
                        <m:den>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+1</m:t>
                          </m:r>
                        </m:den>
                      </m:f>
                      <m:d>
                        <m:dPr>
                          <m:begChr m:val="["/>
                          <m:endChr m:val="]"/>
                          <m:ctrlPr>
                            <a:rPr lang="en-US" sz="3600" i="1">
                              <a:latin typeface="Cambria Math" panose="02040503050406030204" pitchFamily="18" charset="0"/>
                              <a:cs typeface="Times New Roman" panose="02020603050405020304" pitchFamily="18" charset="0"/>
                            </a:rPr>
                          </m:ctrlPr>
                        </m:dPr>
                        <m:e>
                          <m:r>
                            <a:rPr lang="en-US" sz="3600" i="1">
                              <a:latin typeface="Cambria Math" panose="02040503050406030204" pitchFamily="18" charset="0"/>
                              <a:cs typeface="Times New Roman" panose="02020603050405020304" pitchFamily="18" charset="0"/>
                            </a:rPr>
                            <m:t>0.23+</m:t>
                          </m:r>
                          <m:f>
                            <m:fPr>
                              <m:ctrlPr>
                                <a:rPr lang="en-US" sz="3600" i="1">
                                  <a:latin typeface="Cambria Math" panose="02040503050406030204" pitchFamily="18" charset="0"/>
                                  <a:cs typeface="Times New Roman" panose="02020603050405020304" pitchFamily="18" charset="0"/>
                                </a:rPr>
                              </m:ctrlPr>
                            </m:fPr>
                            <m:num>
                              <m:r>
                                <a:rPr lang="en-US" sz="3600" i="1">
                                  <a:latin typeface="Cambria Math" panose="02040503050406030204" pitchFamily="18" charset="0"/>
                                  <a:cs typeface="Times New Roman" panose="02020603050405020304" pitchFamily="18" charset="0"/>
                                </a:rPr>
                                <m:t>0.11</m:t>
                              </m:r>
                            </m:num>
                            <m:den>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den>
                          </m:f>
                        </m:e>
                      </m:d>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r>
                  <a:rPr lang="en-US" sz="3400" dirty="0">
                    <a:latin typeface="Times New Roman" panose="02020603050405020304" pitchFamily="18" charset="0"/>
                    <a:cs typeface="Times New Roman" panose="02020603050405020304" pitchFamily="18" charset="0"/>
                  </a:rPr>
                  <a:t>Now, effective dielectric constant,</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𝑒𝑓𝑓</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m:t>
                      </m:r>
                      <m:f>
                        <m:f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+1</m:t>
                          </m:r>
                        </m:num>
                        <m:den>
                          <m:r>
                            <a:rPr lang="en-US" sz="3600" i="1">
                              <a:latin typeface="Cambria Math" panose="02040503050406030204" pitchFamily="18" charset="0"/>
                              <a:ea typeface="Cambria Math" panose="02040503050406030204" pitchFamily="18" charset="0"/>
                              <a:cs typeface="Times New Roman" panose="02020603050405020304" pitchFamily="18" charset="0"/>
                            </a:rPr>
                            <m:t>2</m:t>
                          </m:r>
                        </m:den>
                      </m:f>
                      <m:r>
                        <a:rPr lang="en-US" sz="3600" i="1">
                          <a:latin typeface="Cambria Math" panose="02040503050406030204" pitchFamily="18" charset="0"/>
                          <a:ea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𝑟</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−1</m:t>
                          </m:r>
                        </m:num>
                        <m:den>
                          <m:r>
                            <a:rPr lang="en-US" sz="3600" i="1">
                              <a:latin typeface="Cambria Math" panose="02040503050406030204" pitchFamily="18" charset="0"/>
                              <a:ea typeface="Cambria Math" panose="02040503050406030204" pitchFamily="18" charset="0"/>
                              <a:cs typeface="Times New Roman" panose="02020603050405020304" pitchFamily="18" charset="0"/>
                            </a:rPr>
                            <m:t>2</m:t>
                          </m:r>
                        </m:den>
                      </m:f>
                      <m:sSup>
                        <m:sSup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dPr>
                            <m:e>
                              <m:r>
                                <a:rPr lang="en-US" sz="3600" i="1">
                                  <a:latin typeface="Cambria Math" panose="02040503050406030204" pitchFamily="18" charset="0"/>
                                  <a:ea typeface="Cambria Math" panose="02040503050406030204" pitchFamily="18" charset="0"/>
                                  <a:cs typeface="Times New Roman" panose="02020603050405020304" pitchFamily="18" charset="0"/>
                                </a:rPr>
                                <m:t>1+12</m:t>
                              </m:r>
                              <m:f>
                                <m:f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fPr>
                                <m:num>
                                  <m:r>
                                    <a:rPr lang="en-US" sz="3600" i="1">
                                      <a:latin typeface="Cambria Math" panose="02040503050406030204" pitchFamily="18" charset="0"/>
                                      <a:ea typeface="Cambria Math" panose="02040503050406030204" pitchFamily="18" charset="0"/>
                                      <a:cs typeface="Times New Roman" panose="02020603050405020304" pitchFamily="18" charset="0"/>
                                    </a:rPr>
                                    <m:t>h</m:t>
                                  </m:r>
                                </m:num>
                                <m:den>
                                  <m:r>
                                    <a:rPr lang="en-US" sz="3600" i="1">
                                      <a:latin typeface="Cambria Math" panose="02040503050406030204" pitchFamily="18" charset="0"/>
                                      <a:ea typeface="Cambria Math" panose="02040503050406030204" pitchFamily="18" charset="0"/>
                                      <a:cs typeface="Times New Roman" panose="02020603050405020304" pitchFamily="18" charset="0"/>
                                    </a:rPr>
                                    <m:t>𝑤</m:t>
                                  </m:r>
                                </m:den>
                              </m:f>
                            </m:e>
                          </m:d>
                        </m:e>
                        <m:sup>
                          <m:r>
                            <a:rPr lang="en-US" sz="3600" i="1">
                              <a:latin typeface="Cambria Math" panose="02040503050406030204" pitchFamily="18" charset="0"/>
                              <a:ea typeface="Cambria Math" panose="02040503050406030204" pitchFamily="18" charset="0"/>
                              <a:cs typeface="Times New Roman" panose="02020603050405020304" pitchFamily="18" charset="0"/>
                            </a:rPr>
                            <m:t>−0.5</m:t>
                          </m:r>
                        </m:sup>
                      </m:sSup>
                    </m:oMath>
                  </m:oMathPara>
                </a14:m>
                <a:endParaRPr lang="en-US" sz="3600" dirty="0">
                  <a:latin typeface="Times New Roman" panose="02020603050405020304" pitchFamily="18" charset="0"/>
                  <a:cs typeface="Times New Roman" panose="02020603050405020304" pitchFamily="18" charset="0"/>
                </a:endParaRPr>
              </a:p>
              <a:p>
                <a:pPr algn="just">
                  <a:lnSpc>
                    <a:spcPct val="110000"/>
                  </a:lnSpc>
                </a:pPr>
                <a:r>
                  <a:rPr lang="en-US" sz="3400" dirty="0">
                    <a:latin typeface="Times New Roman" panose="02020603050405020304" pitchFamily="18" charset="0"/>
                    <a:cs typeface="Times New Roman" panose="02020603050405020304" pitchFamily="18" charset="0"/>
                  </a:rPr>
                  <a:t>Finally, guided wavelength (</a:t>
                </a:r>
                <a:r>
                  <a:rPr lang="el-GR" sz="3400" dirty="0">
                    <a:latin typeface="Times New Roman" panose="02020603050405020304" pitchFamily="18" charset="0"/>
                    <a:cs typeface="Times New Roman" panose="02020603050405020304" pitchFamily="18" charset="0"/>
                  </a:rPr>
                  <a:t>λ</a:t>
                </a:r>
                <a:r>
                  <a:rPr lang="en-US" sz="3400" dirty="0">
                    <a:latin typeface="Times New Roman" panose="02020603050405020304" pitchFamily="18" charset="0"/>
                    <a:cs typeface="Times New Roman" panose="02020603050405020304" pitchFamily="18" charset="0"/>
                  </a:rPr>
                  <a:t>g),</a:t>
                </a:r>
              </a:p>
              <a:p>
                <a:pPr algn="just">
                  <a:lnSpc>
                    <a:spcPct val="110000"/>
                  </a:lnSpc>
                </a:pPr>
                <a14:m>
                  <m:oMathPara xmlns:m="http://schemas.openxmlformats.org/officeDocument/2006/math">
                    <m:oMathParaPr>
                      <m:jc m:val="centerGroup"/>
                    </m:oMathParaPr>
                    <m:oMath xmlns:m="http://schemas.openxmlformats.org/officeDocument/2006/math">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𝜆</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𝑔</m:t>
                          </m:r>
                        </m:sub>
                      </m:sSub>
                      <m:r>
                        <a:rPr lang="en-US" sz="3600" i="1">
                          <a:latin typeface="Cambria Math" panose="02040503050406030204" pitchFamily="18" charset="0"/>
                          <a:ea typeface="Cambria Math" panose="02040503050406030204" pitchFamily="18" charset="0"/>
                          <a:cs typeface="Times New Roman" panose="02020603050405020304" pitchFamily="18" charset="0"/>
                        </a:rPr>
                        <m:t>= </m:t>
                      </m:r>
                      <m:f>
                        <m:f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𝑐</m:t>
                              </m:r>
                            </m:e>
                            <m:sub>
                              <m:r>
                                <a:rPr lang="en-US" sz="3600" i="1">
                                  <a:latin typeface="Cambria Math" panose="02040503050406030204" pitchFamily="18" charset="0"/>
                                  <a:ea typeface="Cambria Math" panose="02040503050406030204" pitchFamily="18" charset="0"/>
                                  <a:cs typeface="Times New Roman" panose="02020603050405020304" pitchFamily="18" charset="0"/>
                                </a:rPr>
                                <m:t>0</m:t>
                              </m:r>
                            </m:sub>
                          </m:sSub>
                        </m:num>
                        <m:den>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𝑓</m:t>
                              </m:r>
                            </m:e>
                            <m:sub>
                              <m:r>
                                <a:rPr lang="en-US" sz="3600" i="1">
                                  <a:latin typeface="Cambria Math" panose="02040503050406030204" pitchFamily="18" charset="0"/>
                                  <a:ea typeface="Cambria Math" panose="02040503050406030204" pitchFamily="18" charset="0"/>
                                  <a:cs typeface="Times New Roman" panose="02020603050405020304" pitchFamily="18" charset="0"/>
                                </a:rPr>
                                <m:t>0</m:t>
                              </m:r>
                            </m:sub>
                          </m:sSub>
                          <m:rad>
                            <m:radPr>
                              <m:degHide m:val="on"/>
                              <m:ctrlPr>
                                <a:rPr lang="en-US" sz="3600" i="1">
                                  <a:latin typeface="Cambria Math" panose="02040503050406030204" pitchFamily="18" charset="0"/>
                                  <a:ea typeface="Cambria Math" panose="02040503050406030204" pitchFamily="18" charset="0"/>
                                  <a:cs typeface="Times New Roman" panose="02020603050405020304" pitchFamily="18" charset="0"/>
                                </a:rPr>
                              </m:ctrlPr>
                            </m:radPr>
                            <m:deg/>
                            <m:e>
                              <m:sSub>
                                <m:sSubPr>
                                  <m:ctrlPr>
                                    <a:rPr lang="en-US" sz="3600" i="1">
                                      <a:latin typeface="Cambria Math" panose="02040503050406030204" pitchFamily="18" charset="0"/>
                                      <a:ea typeface="Cambria Math" panose="02040503050406030204" pitchFamily="18" charset="0"/>
                                      <a:cs typeface="Times New Roman" panose="02020603050405020304" pitchFamily="18" charset="0"/>
                                    </a:rPr>
                                  </m:ctrlPr>
                                </m:sSubPr>
                                <m:e>
                                  <m:r>
                                    <a:rPr lang="en-US" sz="3600" i="1">
                                      <a:latin typeface="Cambria Math" panose="02040503050406030204" pitchFamily="18" charset="0"/>
                                      <a:ea typeface="Cambria Math" panose="02040503050406030204" pitchFamily="18" charset="0"/>
                                      <a:cs typeface="Times New Roman" panose="02020603050405020304" pitchFamily="18" charset="0"/>
                                    </a:rPr>
                                    <m:t>𝜀</m:t>
                                  </m:r>
                                </m:e>
                                <m:sub>
                                  <m:r>
                                    <a:rPr lang="en-US" sz="3600" i="1">
                                      <a:latin typeface="Cambria Math" panose="02040503050406030204" pitchFamily="18" charset="0"/>
                                      <a:ea typeface="Cambria Math" panose="02040503050406030204" pitchFamily="18" charset="0"/>
                                      <a:cs typeface="Times New Roman" panose="02020603050405020304" pitchFamily="18" charset="0"/>
                                    </a:rPr>
                                    <m:t>𝑒𝑓𝑓</m:t>
                                  </m:r>
                                </m:sub>
                              </m:sSub>
                            </m:e>
                          </m:rad>
                        </m:den>
                      </m:f>
                    </m:oMath>
                  </m:oMathPara>
                </a14:m>
                <a:endParaRPr lang="en-US" sz="3600" dirty="0">
                  <a:latin typeface="Times New Roman" panose="02020603050405020304" pitchFamily="18" charset="0"/>
                  <a:cs typeface="Times New Roman" panose="02020603050405020304" pitchFamily="18" charset="0"/>
                </a:endParaRPr>
              </a:p>
            </p:txBody>
          </p:sp>
        </mc:Choice>
        <mc:Fallback xmlns="">
          <p:sp>
            <p:nvSpPr>
              <p:cNvPr id="10" name="TextBox 19">
                <a:extLst>
                  <a:ext uri="{FF2B5EF4-FFF2-40B4-BE49-F238E27FC236}">
                    <a16:creationId xmlns:a16="http://schemas.microsoft.com/office/drawing/2014/main" id="{A5301859-573C-8BC7-A8D4-F2A2F597E611}"/>
                  </a:ext>
                </a:extLst>
              </p:cNvPr>
              <p:cNvSpPr txBox="1">
                <a:spLocks noRot="1" noChangeAspect="1" noMove="1" noResize="1" noEditPoints="1" noAdjustHandles="1" noChangeArrowheads="1" noChangeShapeType="1" noTextEdit="1"/>
              </p:cNvSpPr>
              <p:nvPr/>
            </p:nvSpPr>
            <p:spPr bwMode="auto">
              <a:xfrm>
                <a:off x="1012368" y="14118545"/>
                <a:ext cx="16622364" cy="29241066"/>
              </a:xfrm>
              <a:prstGeom prst="rect">
                <a:avLst/>
              </a:prstGeom>
              <a:blipFill>
                <a:blip r:embed="rId3"/>
                <a:stretch>
                  <a:fillRect l="-1173" t="-313" r="-11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noFill/>
                  </a:rPr>
                  <a:t> </a:t>
                </a:r>
              </a:p>
            </p:txBody>
          </p:sp>
        </mc:Fallback>
      </mc:AlternateContent>
      <p:sp>
        <p:nvSpPr>
          <p:cNvPr id="11" name="TextBox 19">
            <a:extLst>
              <a:ext uri="{FF2B5EF4-FFF2-40B4-BE49-F238E27FC236}">
                <a16:creationId xmlns:a16="http://schemas.microsoft.com/office/drawing/2014/main" id="{16822171-A16E-C155-3CC0-221A512F30CA}"/>
              </a:ext>
            </a:extLst>
          </p:cNvPr>
          <p:cNvSpPr txBox="1">
            <a:spLocks noChangeArrowheads="1"/>
          </p:cNvSpPr>
          <p:nvPr/>
        </p:nvSpPr>
        <p:spPr bwMode="auto">
          <a:xfrm>
            <a:off x="1168676" y="43548608"/>
            <a:ext cx="16622364" cy="5782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400" dirty="0">
                <a:latin typeface="Times New Roman" panose="02020603050405020304" pitchFamily="18" charset="0"/>
                <a:cs typeface="Times New Roman" panose="02020603050405020304" pitchFamily="18" charset="0"/>
              </a:rPr>
              <a:t>Figure 1 displays the inductor-only circuit of the seven-pole band-pass filter with a J-inverter. In this circuit, normalized values of prototype filter elements of low-pass filters are used. It is desired to have the center frequency as 2.0 GHz or 2000 MHz and the FBW as 7% with the characteristic impedances of input and output as 50 ohm (</a:t>
            </a:r>
            <a:r>
              <a:rPr lang="en-GB" sz="3400" dirty="0">
                <a:latin typeface="Times New Roman" panose="02020603050405020304" pitchFamily="18" charset="0"/>
                <a:cs typeface="Times New Roman" panose="02020603050405020304" pitchFamily="18" charset="0"/>
                <a:sym typeface="Symbol" pitchFamily="2" charset="2"/>
              </a:rPr>
              <a:t></a:t>
            </a:r>
            <a:r>
              <a:rPr lang="en-US" sz="3400" dirty="0">
                <a:latin typeface="Times New Roman" panose="02020603050405020304" pitchFamily="18" charset="0"/>
                <a:cs typeface="Times New Roman" panose="02020603050405020304" pitchFamily="18" charset="0"/>
              </a:rPr>
              <a:t>).</a:t>
            </a:r>
          </a:p>
          <a:p>
            <a:pPr algn="just">
              <a:lnSpc>
                <a:spcPct val="110000"/>
              </a:lnSpc>
            </a:pPr>
            <a:r>
              <a:rPr lang="en-US" sz="3400" dirty="0" err="1">
                <a:latin typeface="Times New Roman" panose="02020603050405020304" pitchFamily="18" charset="0"/>
                <a:cs typeface="Times New Roman" panose="02020603050405020304" pitchFamily="18" charset="0"/>
              </a:rPr>
              <a:t>PathWave</a:t>
            </a:r>
            <a:r>
              <a:rPr lang="en-US" sz="3400" dirty="0">
                <a:latin typeface="Times New Roman" panose="02020603050405020304" pitchFamily="18" charset="0"/>
                <a:cs typeface="Times New Roman" panose="02020603050405020304" pitchFamily="18" charset="0"/>
              </a:rPr>
              <a:t> Advanced Design System (ADS) was used to simulate the microstrip resonator layout. The layout was produced using the Rogers RT/</a:t>
            </a:r>
            <a:r>
              <a:rPr lang="en-US" sz="3400" dirty="0" err="1">
                <a:latin typeface="Times New Roman" panose="02020603050405020304" pitchFamily="18" charset="0"/>
                <a:cs typeface="Times New Roman" panose="02020603050405020304" pitchFamily="18" charset="0"/>
              </a:rPr>
              <a:t>Duroid</a:t>
            </a:r>
            <a:r>
              <a:rPr lang="en-US" sz="3400" dirty="0">
                <a:latin typeface="Times New Roman" panose="02020603050405020304" pitchFamily="18" charset="0"/>
                <a:cs typeface="Times New Roman" panose="02020603050405020304" pitchFamily="18" charset="0"/>
              </a:rPr>
              <a:t> 6010LM substrate with a dielectric constant of 10.7, a thickness of 1.27mm, and a loss tangent of 0.0023. To achieve a small size (dimensions in mm) of the resonator, a square open-loop resonator was employed in the design implementation, as shown in Figure 3. </a:t>
            </a:r>
          </a:p>
          <a:p>
            <a:pPr algn="just">
              <a:lnSpc>
                <a:spcPct val="110000"/>
              </a:lnSpc>
            </a:pPr>
            <a:endParaRPr lang="en-US" sz="3400" dirty="0">
              <a:latin typeface="Times New Roman" panose="02020603050405020304" pitchFamily="18" charset="0"/>
              <a:cs typeface="Times New Roman" panose="02020603050405020304" pitchFamily="18" charset="0"/>
            </a:endParaRPr>
          </a:p>
        </p:txBody>
      </p:sp>
      <p:sp>
        <p:nvSpPr>
          <p:cNvPr id="12" name="Rectangle 10">
            <a:extLst>
              <a:ext uri="{FF2B5EF4-FFF2-40B4-BE49-F238E27FC236}">
                <a16:creationId xmlns:a16="http://schemas.microsoft.com/office/drawing/2014/main" id="{7B1E43EE-E102-6C97-1606-D9C077A2F30E}"/>
              </a:ext>
            </a:extLst>
          </p:cNvPr>
          <p:cNvSpPr>
            <a:spLocks noChangeArrowheads="1"/>
          </p:cNvSpPr>
          <p:nvPr/>
        </p:nvSpPr>
        <p:spPr bwMode="auto">
          <a:xfrm>
            <a:off x="1012368" y="13025867"/>
            <a:ext cx="16622364" cy="786130"/>
          </a:xfrm>
          <a:prstGeom prst="rect">
            <a:avLst/>
          </a:prstGeom>
          <a:solidFill>
            <a:schemeClr val="accent5"/>
          </a:solidFill>
          <a:ln w="12700">
            <a:noFill/>
            <a:miter lim="800000"/>
          </a:ln>
          <a:effectLst/>
        </p:spPr>
        <p:txBody>
          <a:bodyPr wrap="none" lIns="102845" tIns="0" rIns="102845" bIns="0" anchor="ctr" anchorCtr="0"/>
          <a:lstStyle>
            <a:defPPr>
              <a:defRPr kern="1200"/>
            </a:defPPr>
          </a:lstStyle>
          <a:p>
            <a:pPr algn="ctr" defTabSz="3526920">
              <a:defRPr/>
            </a:pPr>
            <a:r>
              <a:rPr lang="en-US" sz="4000" b="1" dirty="0">
                <a:solidFill>
                  <a:srgbClr val="FFFFFF"/>
                </a:solidFill>
                <a:latin typeface="Times New Roman" panose="02020603050405020304" pitchFamily="18" charset="0"/>
                <a:cs typeface="Times New Roman" panose="02020603050405020304" pitchFamily="18" charset="0"/>
              </a:rPr>
              <a:t>Introduction</a:t>
            </a:r>
          </a:p>
        </p:txBody>
      </p:sp>
      <p:sp>
        <p:nvSpPr>
          <p:cNvPr id="14" name="TextBox 19">
            <a:extLst>
              <a:ext uri="{FF2B5EF4-FFF2-40B4-BE49-F238E27FC236}">
                <a16:creationId xmlns:a16="http://schemas.microsoft.com/office/drawing/2014/main" id="{812C9C90-0FDA-F0DB-8E67-C88C16FAF277}"/>
              </a:ext>
            </a:extLst>
          </p:cNvPr>
          <p:cNvSpPr txBox="1">
            <a:spLocks noChangeArrowheads="1"/>
          </p:cNvSpPr>
          <p:nvPr/>
        </p:nvSpPr>
        <p:spPr bwMode="auto">
          <a:xfrm>
            <a:off x="18777980" y="29078603"/>
            <a:ext cx="16622364" cy="5207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marL="457200" indent="-457200" algn="just">
              <a:lnSpc>
                <a:spcPct val="110000"/>
              </a:lnSpc>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A band-pass response is clearly illustrated by the simulated S-parameters, which are centered around the frequency of 2.0 GHz and have a stable attenuation in the stopbands.</a:t>
            </a:r>
          </a:p>
          <a:p>
            <a:pPr marL="457200" indent="-457200" algn="just">
              <a:lnSpc>
                <a:spcPct val="110000"/>
              </a:lnSpc>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The seven-pole Chebyshev </a:t>
            </a:r>
            <a:r>
              <a:rPr lang="en-US" sz="3400" dirty="0" err="1">
                <a:latin typeface="Times New Roman" panose="02020603050405020304" pitchFamily="18" charset="0"/>
                <a:cs typeface="Times New Roman" panose="02020603050405020304" pitchFamily="18" charset="0"/>
              </a:rPr>
              <a:t>behaviour</a:t>
            </a:r>
            <a:r>
              <a:rPr lang="en-US" sz="3400" dirty="0">
                <a:latin typeface="Times New Roman" panose="02020603050405020304" pitchFamily="18" charset="0"/>
                <a:cs typeface="Times New Roman" panose="02020603050405020304" pitchFamily="18" charset="0"/>
              </a:rPr>
              <a:t> and controlled ripple are indicated by several deep notches at the passband.</a:t>
            </a:r>
          </a:p>
          <a:p>
            <a:pPr marL="457200" indent="-457200" algn="just">
              <a:lnSpc>
                <a:spcPct val="110000"/>
              </a:lnSpc>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The FSIR layout, which is inverter-based, is much steeper on roll-off at both band edges, making it more selective.</a:t>
            </a:r>
          </a:p>
          <a:p>
            <a:pPr marL="457200" indent="-457200" algn="just">
              <a:lnSpc>
                <a:spcPct val="110000"/>
              </a:lnSpc>
              <a:buFont typeface="Arial" panose="020B0604020202020204" pitchFamily="34" charset="0"/>
              <a:buChar char="•"/>
            </a:pPr>
            <a:r>
              <a:rPr lang="en-US" sz="3400" dirty="0">
                <a:latin typeface="Times New Roman" panose="02020603050405020304" pitchFamily="18" charset="0"/>
                <a:cs typeface="Times New Roman" panose="02020603050405020304" pitchFamily="18" charset="0"/>
              </a:rPr>
              <a:t>Overall, the synthesis of the filter is justified by in-band low insertion loss and out-of-band high rejection.</a:t>
            </a:r>
          </a:p>
          <a:p>
            <a:pPr marL="457200" indent="-457200" algn="just">
              <a:lnSpc>
                <a:spcPct val="110000"/>
              </a:lnSpc>
              <a:buFont typeface="Arial" panose="020B0604020202020204" pitchFamily="34" charset="0"/>
              <a:buChar char="•"/>
            </a:pPr>
            <a:endParaRPr lang="en-US" sz="3400" dirty="0">
              <a:latin typeface="Times New Roman" panose="02020603050405020304" pitchFamily="18" charset="0"/>
              <a:cs typeface="Times New Roman" panose="02020603050405020304" pitchFamily="18" charset="0"/>
            </a:endParaRPr>
          </a:p>
        </p:txBody>
      </p:sp>
      <p:sp>
        <p:nvSpPr>
          <p:cNvPr id="15" name="Rectangle 10">
            <a:extLst>
              <a:ext uri="{FF2B5EF4-FFF2-40B4-BE49-F238E27FC236}">
                <a16:creationId xmlns:a16="http://schemas.microsoft.com/office/drawing/2014/main" id="{4DA3E59F-7B8F-3A24-BE13-0398806A20B4}"/>
              </a:ext>
            </a:extLst>
          </p:cNvPr>
          <p:cNvSpPr>
            <a:spLocks noChangeArrowheads="1"/>
          </p:cNvSpPr>
          <p:nvPr/>
        </p:nvSpPr>
        <p:spPr bwMode="auto">
          <a:xfrm>
            <a:off x="1012368" y="42675880"/>
            <a:ext cx="16622364" cy="754885"/>
          </a:xfrm>
          <a:prstGeom prst="rect">
            <a:avLst/>
          </a:prstGeom>
          <a:solidFill>
            <a:schemeClr val="accent5"/>
          </a:solidFill>
          <a:ln w="12700">
            <a:noFill/>
            <a:miter lim="800000"/>
          </a:ln>
          <a:effectLst/>
        </p:spPr>
        <p:txBody>
          <a:bodyPr wrap="none" lIns="102845" tIns="0" rIns="102845" bIns="0" anchor="ctr" anchorCtr="0"/>
          <a:lstStyle>
            <a:defPPr>
              <a:defRPr kern="1200"/>
            </a:defPPr>
          </a:lstStyle>
          <a:p>
            <a:pPr algn="ctr" defTabSz="3526920">
              <a:defRPr/>
            </a:pPr>
            <a:r>
              <a:rPr lang="en-US" sz="4000" b="1" dirty="0">
                <a:solidFill>
                  <a:srgbClr val="FFFFFF"/>
                </a:solidFill>
                <a:latin typeface="Times New Roman" panose="02020603050405020304" pitchFamily="18" charset="0"/>
                <a:cs typeface="Times New Roman" panose="02020603050405020304" pitchFamily="18" charset="0"/>
              </a:rPr>
              <a:t>Procedures</a:t>
            </a:r>
          </a:p>
        </p:txBody>
      </p:sp>
      <p:sp>
        <p:nvSpPr>
          <p:cNvPr id="17" name="Rectangle 10">
            <a:extLst>
              <a:ext uri="{FF2B5EF4-FFF2-40B4-BE49-F238E27FC236}">
                <a16:creationId xmlns:a16="http://schemas.microsoft.com/office/drawing/2014/main" id="{50536E6C-2EBA-A863-A37F-F94D6CAE8A50}"/>
              </a:ext>
            </a:extLst>
          </p:cNvPr>
          <p:cNvSpPr>
            <a:spLocks noChangeArrowheads="1"/>
          </p:cNvSpPr>
          <p:nvPr/>
        </p:nvSpPr>
        <p:spPr bwMode="auto">
          <a:xfrm>
            <a:off x="18959714" y="44931798"/>
            <a:ext cx="16622364" cy="740853"/>
          </a:xfrm>
          <a:prstGeom prst="rect">
            <a:avLst/>
          </a:prstGeom>
          <a:solidFill>
            <a:schemeClr val="accent5"/>
          </a:solidFill>
          <a:ln w="12700">
            <a:noFill/>
            <a:miter lim="800000"/>
          </a:ln>
          <a:effectLst/>
        </p:spPr>
        <p:txBody>
          <a:bodyPr wrap="none" lIns="102845" tIns="0" rIns="102845" bIns="0" anchor="ctr" anchorCtr="0"/>
          <a:lstStyle>
            <a:defPPr>
              <a:defRPr kern="1200"/>
            </a:defPPr>
          </a:lstStyle>
          <a:p>
            <a:pPr algn="ctr" defTabSz="3526920">
              <a:defRPr/>
            </a:pPr>
            <a:r>
              <a:rPr lang="en-US" sz="4000" b="1" dirty="0">
                <a:solidFill>
                  <a:srgbClr val="FFFFFF"/>
                </a:solidFill>
                <a:latin typeface="Times New Roman" panose="02020603050405020304" pitchFamily="18" charset="0"/>
                <a:cs typeface="Times New Roman" panose="02020603050405020304" pitchFamily="18" charset="0"/>
              </a:rPr>
              <a:t>Conclusion</a:t>
            </a:r>
          </a:p>
        </p:txBody>
      </p:sp>
      <p:sp>
        <p:nvSpPr>
          <p:cNvPr id="20" name="TextBox 19">
            <a:extLst>
              <a:ext uri="{FF2B5EF4-FFF2-40B4-BE49-F238E27FC236}">
                <a16:creationId xmlns:a16="http://schemas.microsoft.com/office/drawing/2014/main" id="{3894A8FB-3B65-6393-22D3-29C8E0414126}"/>
              </a:ext>
            </a:extLst>
          </p:cNvPr>
          <p:cNvSpPr txBox="1"/>
          <p:nvPr/>
        </p:nvSpPr>
        <p:spPr>
          <a:xfrm>
            <a:off x="2786746" y="4237517"/>
            <a:ext cx="184731" cy="369332"/>
          </a:xfrm>
          <a:prstGeom prst="rect">
            <a:avLst/>
          </a:prstGeom>
          <a:noFill/>
        </p:spPr>
        <p:txBody>
          <a:bodyPr wrap="none" rtlCol="0">
            <a:spAutoFit/>
          </a:bodyPr>
          <a:lstStyle/>
          <a:p>
            <a:endParaRPr lang="en-US"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5C84D96F-548D-9466-EE4B-71B6F90947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47000" y="2614503"/>
            <a:ext cx="14173151" cy="3422885"/>
          </a:xfrm>
          <a:prstGeom prst="rect">
            <a:avLst/>
          </a:prstGeom>
        </p:spPr>
      </p:pic>
      <p:sp>
        <p:nvSpPr>
          <p:cNvPr id="22" name="Rectangle 10">
            <a:extLst>
              <a:ext uri="{FF2B5EF4-FFF2-40B4-BE49-F238E27FC236}">
                <a16:creationId xmlns:a16="http://schemas.microsoft.com/office/drawing/2014/main" id="{FF139705-A50C-3FFC-E6F3-9BCCF40106ED}"/>
              </a:ext>
            </a:extLst>
          </p:cNvPr>
          <p:cNvSpPr>
            <a:spLocks noChangeArrowheads="1"/>
          </p:cNvSpPr>
          <p:nvPr/>
        </p:nvSpPr>
        <p:spPr bwMode="auto">
          <a:xfrm>
            <a:off x="1012370" y="7900078"/>
            <a:ext cx="16622363" cy="754885"/>
          </a:xfrm>
          <a:prstGeom prst="rect">
            <a:avLst/>
          </a:prstGeom>
          <a:solidFill>
            <a:schemeClr val="accent5"/>
          </a:solidFill>
          <a:ln w="12700">
            <a:noFill/>
            <a:miter lim="800000"/>
          </a:ln>
          <a:effectLst/>
        </p:spPr>
        <p:txBody>
          <a:bodyPr wrap="none" lIns="102845" tIns="0" rIns="102845" bIns="0" anchor="ctr" anchorCtr="0"/>
          <a:lstStyle>
            <a:defPPr>
              <a:defRPr kern="1200"/>
            </a:defPPr>
          </a:lstStyle>
          <a:p>
            <a:pPr algn="ctr" defTabSz="3526920">
              <a:defRPr/>
            </a:pPr>
            <a:r>
              <a:rPr lang="en-US" sz="4000" b="1" dirty="0">
                <a:solidFill>
                  <a:srgbClr val="FFFFFF"/>
                </a:solidFill>
                <a:latin typeface="Times New Roman" panose="02020603050405020304" pitchFamily="18" charset="0"/>
                <a:cs typeface="Times New Roman" panose="02020603050405020304" pitchFamily="18" charset="0"/>
              </a:rPr>
              <a:t>Abstract</a:t>
            </a:r>
          </a:p>
        </p:txBody>
      </p:sp>
      <p:sp>
        <p:nvSpPr>
          <p:cNvPr id="2" name="TextBox 19">
            <a:extLst>
              <a:ext uri="{FF2B5EF4-FFF2-40B4-BE49-F238E27FC236}">
                <a16:creationId xmlns:a16="http://schemas.microsoft.com/office/drawing/2014/main" id="{9C07079A-02A2-99EA-DE90-9573CAA52C2D}"/>
              </a:ext>
            </a:extLst>
          </p:cNvPr>
          <p:cNvSpPr txBox="1">
            <a:spLocks noChangeArrowheads="1"/>
          </p:cNvSpPr>
          <p:nvPr/>
        </p:nvSpPr>
        <p:spPr bwMode="auto">
          <a:xfrm>
            <a:off x="1168676" y="9263915"/>
            <a:ext cx="16622364" cy="2329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400" dirty="0">
                <a:latin typeface="Times New Roman" panose="02020603050405020304" pitchFamily="18" charset="0"/>
                <a:cs typeface="Times New Roman" panose="02020603050405020304" pitchFamily="18" charset="0"/>
              </a:rPr>
              <a:t>This poster represents a seven-pole Chebyshev microstrip bandpass filter at 2.0 GHz, with folded stepped-impedance resonators, guided wavelength, coupling-coefficient synthesis, and external-Q tuning factor to steep selectivity and ripple control. Resonant performance and bandwidth insights of RF communications are verified by simulations.</a:t>
            </a:r>
          </a:p>
        </p:txBody>
      </p:sp>
      <p:sp>
        <p:nvSpPr>
          <p:cNvPr id="23" name="TextBox 22">
            <a:extLst>
              <a:ext uri="{FF2B5EF4-FFF2-40B4-BE49-F238E27FC236}">
                <a16:creationId xmlns:a16="http://schemas.microsoft.com/office/drawing/2014/main" id="{811F09D2-743D-573E-A0D6-944E587605A5}"/>
              </a:ext>
            </a:extLst>
          </p:cNvPr>
          <p:cNvSpPr txBox="1"/>
          <p:nvPr/>
        </p:nvSpPr>
        <p:spPr>
          <a:xfrm>
            <a:off x="1467293" y="49391959"/>
            <a:ext cx="33933051" cy="1615827"/>
          </a:xfrm>
          <a:prstGeom prst="rect">
            <a:avLst/>
          </a:prstGeom>
          <a:noFill/>
        </p:spPr>
        <p:txBody>
          <a:bodyPr wrap="square" rtlCol="0">
            <a:spAutoFit/>
          </a:bodyPr>
          <a:lstStyle/>
          <a:p>
            <a:r>
              <a:rPr lang="en-US" sz="3300" dirty="0">
                <a:solidFill>
                  <a:schemeClr val="bg1"/>
                </a:solidFill>
              </a:rPr>
              <a:t>[1]		</a:t>
            </a:r>
            <a:r>
              <a:rPr lang="en-GB" sz="3300" dirty="0">
                <a:solidFill>
                  <a:schemeClr val="bg1"/>
                </a:solidFill>
              </a:rPr>
              <a:t>A. O. </a:t>
            </a:r>
            <a:r>
              <a:rPr lang="en-GB" sz="3300" dirty="0" err="1">
                <a:solidFill>
                  <a:schemeClr val="bg1"/>
                </a:solidFill>
              </a:rPr>
              <a:t>Nwajana</a:t>
            </a:r>
            <a:r>
              <a:rPr lang="en-GB" sz="3300" dirty="0">
                <a:solidFill>
                  <a:schemeClr val="bg1"/>
                </a:solidFill>
              </a:rPr>
              <a:t> and K. S. K. Yeo, "Practical Approach to Substrate Integrated Waveguide (SIW) Diplexer: Emerging Research and Opportunities: Emerging Research and Opportunities," 			2020.</a:t>
            </a:r>
            <a:r>
              <a:rPr lang="en-US" sz="3300" dirty="0">
                <a:solidFill>
                  <a:schemeClr val="bg1"/>
                </a:solidFill>
              </a:rPr>
              <a:t> </a:t>
            </a:r>
          </a:p>
          <a:p>
            <a:r>
              <a:rPr lang="en-US" sz="3300" dirty="0">
                <a:solidFill>
                  <a:schemeClr val="bg1"/>
                </a:solidFill>
              </a:rPr>
              <a:t>[2]		A. </a:t>
            </a:r>
            <a:r>
              <a:rPr lang="en-US" sz="3300" dirty="0" err="1">
                <a:solidFill>
                  <a:schemeClr val="bg1"/>
                </a:solidFill>
              </a:rPr>
              <a:t>Nwajana</a:t>
            </a:r>
            <a:r>
              <a:rPr lang="en-US" sz="3300" dirty="0">
                <a:solidFill>
                  <a:schemeClr val="bg1"/>
                </a:solidFill>
              </a:rPr>
              <a:t> and E. Obi, "Application of Compact Folded-Arms Square Open-Loop Resonator to Bandpass Filter Design. Micromachines 2023, 14, 320," ed, 2023. </a:t>
            </a:r>
          </a:p>
        </p:txBody>
      </p:sp>
      <p:sp>
        <p:nvSpPr>
          <p:cNvPr id="31" name="TextBox 30">
            <a:extLst>
              <a:ext uri="{FF2B5EF4-FFF2-40B4-BE49-F238E27FC236}">
                <a16:creationId xmlns:a16="http://schemas.microsoft.com/office/drawing/2014/main" id="{30E8032A-BBF9-A052-DACB-03687809FBD3}"/>
              </a:ext>
            </a:extLst>
          </p:cNvPr>
          <p:cNvSpPr txBox="1"/>
          <p:nvPr/>
        </p:nvSpPr>
        <p:spPr>
          <a:xfrm>
            <a:off x="22628813" y="14118545"/>
            <a:ext cx="8514269" cy="113877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Figure 1: Inductor-only Circuit using a J-Inverter</a:t>
            </a:r>
          </a:p>
        </p:txBody>
      </p:sp>
      <p:pic>
        <p:nvPicPr>
          <p:cNvPr id="41" name="Picture 40">
            <a:extLst>
              <a:ext uri="{FF2B5EF4-FFF2-40B4-BE49-F238E27FC236}">
                <a16:creationId xmlns:a16="http://schemas.microsoft.com/office/drawing/2014/main" id="{5C007CA9-80C0-7383-54DE-AD86D78487B8}"/>
              </a:ext>
            </a:extLst>
          </p:cNvPr>
          <p:cNvPicPr>
            <a:picLocks noChangeAspect="1"/>
          </p:cNvPicPr>
          <p:nvPr/>
        </p:nvPicPr>
        <p:blipFill>
          <a:blip r:embed="rId5"/>
          <a:stretch>
            <a:fillRect/>
          </a:stretch>
        </p:blipFill>
        <p:spPr>
          <a:xfrm>
            <a:off x="18777980" y="20721964"/>
            <a:ext cx="16029587" cy="1369801"/>
          </a:xfrm>
          <a:prstGeom prst="rect">
            <a:avLst/>
          </a:prstGeom>
        </p:spPr>
      </p:pic>
      <p:sp>
        <p:nvSpPr>
          <p:cNvPr id="42" name="TextBox 19">
            <a:extLst>
              <a:ext uri="{FF2B5EF4-FFF2-40B4-BE49-F238E27FC236}">
                <a16:creationId xmlns:a16="http://schemas.microsoft.com/office/drawing/2014/main" id="{99BDA537-34D9-D2DC-2B94-B32FF3143EC8}"/>
              </a:ext>
            </a:extLst>
          </p:cNvPr>
          <p:cNvSpPr txBox="1">
            <a:spLocks noChangeArrowheads="1"/>
          </p:cNvSpPr>
          <p:nvPr/>
        </p:nvSpPr>
        <p:spPr bwMode="auto">
          <a:xfrm>
            <a:off x="18382440" y="15325530"/>
            <a:ext cx="16622364" cy="5207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4" tIns="34282" rIns="68564" bIns="34282">
            <a:spAutoFit/>
          </a:bodyPr>
          <a:lstStyle>
            <a:defPPr>
              <a:defRPr kern="1200"/>
            </a:defPPr>
            <a:lvl1pPr eaLnBrk="0" hangingPunct="0">
              <a:defRPr sz="2000">
                <a:solidFill>
                  <a:schemeClr val="tx1"/>
                </a:solidFill>
                <a:latin typeface="Arial"/>
                <a:ea typeface="ＭＳ Ｐゴシック" pitchFamily="-106" charset="-128"/>
              </a:defRPr>
            </a:lvl1pPr>
            <a:lvl2pPr eaLnBrk="0" hangingPunct="0">
              <a:defRPr sz="2000">
                <a:solidFill>
                  <a:schemeClr val="tx1"/>
                </a:solidFill>
                <a:latin typeface="Arial"/>
                <a:ea typeface="ＭＳ Ｐゴシック" pitchFamily="-106" charset="-128"/>
              </a:defRPr>
            </a:lvl2pPr>
            <a:lvl3pPr marL="1143000" indent="-228600" eaLnBrk="0" hangingPunct="0">
              <a:defRPr sz="2000">
                <a:solidFill>
                  <a:schemeClr val="tx1"/>
                </a:solidFill>
                <a:latin typeface="Arial"/>
                <a:ea typeface="ＭＳ Ｐゴシック" pitchFamily="-106" charset="-128"/>
              </a:defRPr>
            </a:lvl3pPr>
            <a:lvl4pPr marL="1600200" indent="-228600" eaLnBrk="0" hangingPunct="0">
              <a:defRPr sz="2000">
                <a:solidFill>
                  <a:schemeClr val="tx1"/>
                </a:solidFill>
                <a:latin typeface="Arial"/>
                <a:ea typeface="ＭＳ Ｐゴシック" pitchFamily="-106" charset="-128"/>
              </a:defRPr>
            </a:lvl4pPr>
            <a:lvl5pPr marL="2057400" indent="-228600" eaLnBrk="0" hangingPunct="0">
              <a:defRPr sz="2000">
                <a:solidFill>
                  <a:schemeClr val="tx1"/>
                </a:solidFill>
                <a:latin typeface="Arial"/>
                <a:ea typeface="ＭＳ Ｐゴシック" pitchFamily="-106" charset="-128"/>
              </a:defRPr>
            </a:lvl5pPr>
            <a:lvl6pPr marL="2514600" indent="-228600" eaLnBrk="0" fontAlgn="base" hangingPunct="0">
              <a:spcBef>
                <a:spcPct val="0"/>
              </a:spcBef>
              <a:spcAft>
                <a:spcPct val="0"/>
              </a:spcAft>
              <a:defRPr sz="2000">
                <a:solidFill>
                  <a:schemeClr val="tx1"/>
                </a:solidFill>
                <a:latin typeface="Arial"/>
                <a:ea typeface="ＭＳ Ｐゴシック" pitchFamily="-106" charset="-128"/>
              </a:defRPr>
            </a:lvl6pPr>
            <a:lvl7pPr marL="2971800" indent="-228600" eaLnBrk="0" fontAlgn="base" hangingPunct="0">
              <a:spcBef>
                <a:spcPct val="0"/>
              </a:spcBef>
              <a:spcAft>
                <a:spcPct val="0"/>
              </a:spcAft>
              <a:defRPr sz="2000">
                <a:solidFill>
                  <a:schemeClr val="tx1"/>
                </a:solidFill>
                <a:latin typeface="Arial"/>
                <a:ea typeface="ＭＳ Ｐゴシック" pitchFamily="-106" charset="-128"/>
              </a:defRPr>
            </a:lvl7pPr>
            <a:lvl8pPr marL="3429000" indent="-228600" eaLnBrk="0" fontAlgn="base" hangingPunct="0">
              <a:spcBef>
                <a:spcPct val="0"/>
              </a:spcBef>
              <a:spcAft>
                <a:spcPct val="0"/>
              </a:spcAft>
              <a:defRPr sz="2000">
                <a:solidFill>
                  <a:schemeClr val="tx1"/>
                </a:solidFill>
                <a:latin typeface="Arial"/>
                <a:ea typeface="ＭＳ Ｐゴシック" pitchFamily="-106" charset="-128"/>
              </a:defRPr>
            </a:lvl8pPr>
            <a:lvl9pPr marL="3886200" indent="-228600" eaLnBrk="0" fontAlgn="base" hangingPunct="0">
              <a:spcBef>
                <a:spcPct val="0"/>
              </a:spcBef>
              <a:spcAft>
                <a:spcPct val="0"/>
              </a:spcAft>
              <a:defRPr sz="2000">
                <a:solidFill>
                  <a:schemeClr val="tx1"/>
                </a:solidFill>
                <a:latin typeface="Arial"/>
                <a:ea typeface="ＭＳ Ｐゴシック" pitchFamily="-106" charset="-128"/>
              </a:defRPr>
            </a:lvl9pPr>
          </a:lstStyle>
          <a:p>
            <a:pPr algn="just">
              <a:lnSpc>
                <a:spcPct val="110000"/>
              </a:lnSpc>
            </a:pPr>
            <a:r>
              <a:rPr lang="en-US" sz="3400" dirty="0">
                <a:latin typeface="Times New Roman" panose="02020603050405020304" pitchFamily="18" charset="0"/>
                <a:cs typeface="Times New Roman" panose="02020603050405020304" pitchFamily="18" charset="0"/>
              </a:rPr>
              <a:t>Here, the calculated guided wavelength (</a:t>
            </a:r>
            <a:r>
              <a:rPr lang="el-GR" sz="3400" dirty="0">
                <a:latin typeface="Times New Roman" panose="02020603050405020304" pitchFamily="18" charset="0"/>
                <a:cs typeface="Times New Roman" panose="02020603050405020304" pitchFamily="18" charset="0"/>
              </a:rPr>
              <a:t>λ</a:t>
            </a:r>
            <a:r>
              <a:rPr lang="en-US" sz="3400" dirty="0">
                <a:latin typeface="Times New Roman" panose="02020603050405020304" pitchFamily="18" charset="0"/>
                <a:cs typeface="Times New Roman" panose="02020603050405020304" pitchFamily="18" charset="0"/>
              </a:rPr>
              <a:t>g) = 56.1852 mm, and the base length of the resonator (</a:t>
            </a:r>
            <a:r>
              <a:rPr lang="el-GR" sz="3400" dirty="0">
                <a:latin typeface="Times New Roman" panose="02020603050405020304" pitchFamily="18" charset="0"/>
                <a:cs typeface="Times New Roman" panose="02020603050405020304" pitchFamily="18" charset="0"/>
              </a:rPr>
              <a:t>λ</a:t>
            </a:r>
            <a:r>
              <a:rPr lang="en-US" sz="3400" dirty="0">
                <a:latin typeface="Times New Roman" panose="02020603050405020304" pitchFamily="18" charset="0"/>
                <a:cs typeface="Times New Roman" panose="02020603050405020304" pitchFamily="18" charset="0"/>
              </a:rPr>
              <a:t>g/7) = 8.0264 mm; resonator arm width = 1 mm</a:t>
            </a:r>
          </a:p>
          <a:p>
            <a:pPr algn="just">
              <a:lnSpc>
                <a:spcPct val="110000"/>
              </a:lnSpc>
            </a:pPr>
            <a:r>
              <a:rPr lang="en-US" sz="3400" dirty="0">
                <a:latin typeface="Times New Roman" panose="02020603050405020304" pitchFamily="18" charset="0"/>
                <a:cs typeface="Times New Roman" panose="02020603050405020304" pitchFamily="18" charset="0"/>
              </a:rPr>
              <a:t>And, the theoretical coupling coefficients and the external quality factor were calculated from the following equations:</a:t>
            </a:r>
          </a:p>
          <a:p>
            <a:pPr algn="ctr">
              <a:lnSpc>
                <a:spcPct val="110000"/>
              </a:lnSpc>
            </a:pPr>
            <a:r>
              <a:rPr lang="en-US" sz="3400" dirty="0">
                <a:latin typeface="Times New Roman" panose="02020603050405020304" pitchFamily="18" charset="0"/>
                <a:cs typeface="Times New Roman" panose="02020603050405020304" pitchFamily="18" charset="0"/>
              </a:rPr>
              <a:t>K</a:t>
            </a:r>
            <a:r>
              <a:rPr lang="en-US" sz="3400" baseline="-25000" dirty="0">
                <a:latin typeface="Times New Roman" panose="02020603050405020304" pitchFamily="18" charset="0"/>
                <a:cs typeface="Times New Roman" panose="02020603050405020304" pitchFamily="18" charset="0"/>
              </a:rPr>
              <a:t>0,1</a:t>
            </a:r>
            <a:r>
              <a:rPr lang="en-US" sz="3400" dirty="0">
                <a:latin typeface="Times New Roman" panose="02020603050405020304" pitchFamily="18" charset="0"/>
                <a:cs typeface="Times New Roman" panose="02020603050405020304" pitchFamily="18" charset="0"/>
              </a:rPr>
              <a:t> = K</a:t>
            </a:r>
            <a:r>
              <a:rPr lang="en-US" sz="3400" baseline="-25000" dirty="0">
                <a:latin typeface="Times New Roman" panose="02020603050405020304" pitchFamily="18" charset="0"/>
                <a:cs typeface="Times New Roman" panose="02020603050405020304" pitchFamily="18" charset="0"/>
              </a:rPr>
              <a:t>7,8</a:t>
            </a:r>
            <a:r>
              <a:rPr lang="en-US" sz="3400" dirty="0">
                <a:latin typeface="Times New Roman" panose="02020603050405020304" pitchFamily="18" charset="0"/>
                <a:cs typeface="Times New Roman" panose="02020603050405020304" pitchFamily="18" charset="0"/>
              </a:rPr>
              <a:t> = 0.0644; K</a:t>
            </a:r>
            <a:r>
              <a:rPr lang="en-US" sz="3400" baseline="-25000" dirty="0">
                <a:latin typeface="Times New Roman" panose="02020603050405020304" pitchFamily="18" charset="0"/>
                <a:cs typeface="Times New Roman" panose="02020603050405020304" pitchFamily="18" charset="0"/>
              </a:rPr>
              <a:t>1,2</a:t>
            </a:r>
            <a:r>
              <a:rPr lang="en-US" sz="3400" dirty="0">
                <a:latin typeface="Times New Roman" panose="02020603050405020304" pitchFamily="18" charset="0"/>
                <a:cs typeface="Times New Roman" panose="02020603050405020304" pitchFamily="18" charset="0"/>
              </a:rPr>
              <a:t> = K</a:t>
            </a:r>
            <a:r>
              <a:rPr lang="en-US" sz="3400" baseline="-25000" dirty="0">
                <a:latin typeface="Times New Roman" panose="02020603050405020304" pitchFamily="18" charset="0"/>
                <a:cs typeface="Times New Roman" panose="02020603050405020304" pitchFamily="18" charset="0"/>
              </a:rPr>
              <a:t>6,7</a:t>
            </a:r>
            <a:r>
              <a:rPr lang="en-US" sz="3400" dirty="0">
                <a:latin typeface="Times New Roman" panose="02020603050405020304" pitchFamily="18" charset="0"/>
                <a:cs typeface="Times New Roman" panose="02020603050405020304" pitchFamily="18" charset="0"/>
              </a:rPr>
              <a:t> = 0.0539; K</a:t>
            </a:r>
            <a:r>
              <a:rPr lang="en-US" sz="3400" baseline="-25000" dirty="0">
                <a:latin typeface="Times New Roman" panose="02020603050405020304" pitchFamily="18" charset="0"/>
                <a:cs typeface="Times New Roman" panose="02020603050405020304" pitchFamily="18" charset="0"/>
              </a:rPr>
              <a:t>2,3</a:t>
            </a:r>
            <a:r>
              <a:rPr lang="en-US" sz="3400" dirty="0">
                <a:latin typeface="Times New Roman" panose="02020603050405020304" pitchFamily="18" charset="0"/>
                <a:cs typeface="Times New Roman" panose="02020603050405020304" pitchFamily="18" charset="0"/>
              </a:rPr>
              <a:t> = K</a:t>
            </a:r>
            <a:r>
              <a:rPr lang="en-US" sz="3400" baseline="-25000" dirty="0">
                <a:latin typeface="Times New Roman" panose="02020603050405020304" pitchFamily="18" charset="0"/>
                <a:cs typeface="Times New Roman" panose="02020603050405020304" pitchFamily="18" charset="0"/>
              </a:rPr>
              <a:t>5,6</a:t>
            </a:r>
            <a:r>
              <a:rPr lang="en-US" sz="3400" dirty="0">
                <a:latin typeface="Times New Roman" panose="02020603050405020304" pitchFamily="18" charset="0"/>
                <a:cs typeface="Times New Roman" panose="02020603050405020304" pitchFamily="18" charset="0"/>
              </a:rPr>
              <a:t> = 0.0405;</a:t>
            </a:r>
          </a:p>
          <a:p>
            <a:pPr algn="ctr">
              <a:lnSpc>
                <a:spcPct val="110000"/>
              </a:lnSpc>
            </a:pPr>
            <a:r>
              <a:rPr lang="en-US" sz="3400" dirty="0">
                <a:latin typeface="Times New Roman" panose="02020603050405020304" pitchFamily="18" charset="0"/>
                <a:cs typeface="Times New Roman" panose="02020603050405020304" pitchFamily="18" charset="0"/>
              </a:rPr>
              <a:t>K</a:t>
            </a:r>
            <a:r>
              <a:rPr lang="en-US" sz="3400" baseline="-25000" dirty="0">
                <a:latin typeface="Times New Roman" panose="02020603050405020304" pitchFamily="18" charset="0"/>
                <a:cs typeface="Times New Roman" panose="02020603050405020304" pitchFamily="18" charset="0"/>
              </a:rPr>
              <a:t>3,4</a:t>
            </a:r>
            <a:r>
              <a:rPr lang="en-US" sz="3400" dirty="0">
                <a:latin typeface="Times New Roman" panose="02020603050405020304" pitchFamily="18" charset="0"/>
                <a:cs typeface="Times New Roman" panose="02020603050405020304" pitchFamily="18" charset="0"/>
              </a:rPr>
              <a:t> = K</a:t>
            </a:r>
            <a:r>
              <a:rPr lang="en-US" sz="3400" baseline="-25000" dirty="0">
                <a:latin typeface="Times New Roman" panose="02020603050405020304" pitchFamily="18" charset="0"/>
                <a:cs typeface="Times New Roman" panose="02020603050405020304" pitchFamily="18" charset="0"/>
              </a:rPr>
              <a:t>4,5</a:t>
            </a:r>
            <a:r>
              <a:rPr lang="en-US" sz="3400" dirty="0">
                <a:latin typeface="Times New Roman" panose="02020603050405020304" pitchFamily="18" charset="0"/>
                <a:cs typeface="Times New Roman" panose="02020603050405020304" pitchFamily="18" charset="0"/>
              </a:rPr>
              <a:t> = 0.0385, Q</a:t>
            </a:r>
            <a:r>
              <a:rPr lang="en-US" sz="3400" baseline="-25000" dirty="0">
                <a:latin typeface="Times New Roman" panose="02020603050405020304" pitchFamily="18" charset="0"/>
                <a:cs typeface="Times New Roman" panose="02020603050405020304" pitchFamily="18" charset="0"/>
              </a:rPr>
              <a:t>(</a:t>
            </a:r>
            <a:r>
              <a:rPr lang="en-US" sz="3400" baseline="-25000" dirty="0" err="1">
                <a:latin typeface="Times New Roman" panose="02020603050405020304" pitchFamily="18" charset="0"/>
                <a:cs typeface="Times New Roman" panose="02020603050405020304" pitchFamily="18" charset="0"/>
              </a:rPr>
              <a:t>ext</a:t>
            </a:r>
            <a:r>
              <a:rPr lang="en-US" sz="3400" baseline="-25000" dirty="0">
                <a:latin typeface="Times New Roman" panose="02020603050405020304" pitchFamily="18" charset="0"/>
                <a:cs typeface="Times New Roman" panose="02020603050405020304" pitchFamily="18" charset="0"/>
              </a:rPr>
              <a:t>)</a:t>
            </a:r>
            <a:r>
              <a:rPr lang="en-US" sz="3400" dirty="0">
                <a:latin typeface="Times New Roman" panose="02020603050405020304" pitchFamily="18" charset="0"/>
                <a:cs typeface="Times New Roman" panose="02020603050405020304" pitchFamily="18" charset="0"/>
              </a:rPr>
              <a:t> = 16.8742; </a:t>
            </a:r>
          </a:p>
          <a:p>
            <a:pPr algn="ctr">
              <a:lnSpc>
                <a:spcPct val="110000"/>
              </a:lnSpc>
            </a:pPr>
            <a:r>
              <a:rPr lang="en-US" sz="3400" dirty="0">
                <a:latin typeface="Times New Roman" panose="02020603050405020304" pitchFamily="18" charset="0"/>
                <a:cs typeface="Times New Roman" panose="02020603050405020304" pitchFamily="18" charset="0"/>
              </a:rPr>
              <a:t>These values were further compared and analyzed with the values that were obtained practically by the simulations. After adding up all the data, the desired FSIR layout was accomplished successfully, as shown in Figure 3.</a:t>
            </a:r>
          </a:p>
        </p:txBody>
      </p:sp>
      <p:sp>
        <p:nvSpPr>
          <p:cNvPr id="43" name="TextBox 42">
            <a:extLst>
              <a:ext uri="{FF2B5EF4-FFF2-40B4-BE49-F238E27FC236}">
                <a16:creationId xmlns:a16="http://schemas.microsoft.com/office/drawing/2014/main" id="{924C2BB1-86D0-E9C4-C7C0-6AB34FF740D0}"/>
              </a:ext>
            </a:extLst>
          </p:cNvPr>
          <p:cNvSpPr txBox="1"/>
          <p:nvPr/>
        </p:nvSpPr>
        <p:spPr>
          <a:xfrm>
            <a:off x="22628813" y="22533670"/>
            <a:ext cx="8514269" cy="61555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Figure 2: Coupling Arrangements of FSIR</a:t>
            </a:r>
          </a:p>
        </p:txBody>
      </p:sp>
      <p:sp>
        <p:nvSpPr>
          <p:cNvPr id="44" name="TextBox 43">
            <a:extLst>
              <a:ext uri="{FF2B5EF4-FFF2-40B4-BE49-F238E27FC236}">
                <a16:creationId xmlns:a16="http://schemas.microsoft.com/office/drawing/2014/main" id="{18A9EEBA-2014-E1CE-CCFD-2DF77969F492}"/>
              </a:ext>
            </a:extLst>
          </p:cNvPr>
          <p:cNvSpPr txBox="1"/>
          <p:nvPr/>
        </p:nvSpPr>
        <p:spPr>
          <a:xfrm>
            <a:off x="22628814" y="27153863"/>
            <a:ext cx="8514269" cy="61555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Figure 3: Microstrip Layout</a:t>
            </a:r>
          </a:p>
        </p:txBody>
      </p:sp>
      <p:sp>
        <p:nvSpPr>
          <p:cNvPr id="45" name="Rectangle 10">
            <a:extLst>
              <a:ext uri="{FF2B5EF4-FFF2-40B4-BE49-F238E27FC236}">
                <a16:creationId xmlns:a16="http://schemas.microsoft.com/office/drawing/2014/main" id="{848D9B0A-7703-8EF1-A8FC-CE8CF74A85B5}"/>
              </a:ext>
            </a:extLst>
          </p:cNvPr>
          <p:cNvSpPr>
            <a:spLocks noChangeArrowheads="1"/>
          </p:cNvSpPr>
          <p:nvPr/>
        </p:nvSpPr>
        <p:spPr bwMode="auto">
          <a:xfrm>
            <a:off x="18777980" y="28152449"/>
            <a:ext cx="16622364" cy="754885"/>
          </a:xfrm>
          <a:prstGeom prst="rect">
            <a:avLst/>
          </a:prstGeom>
          <a:solidFill>
            <a:schemeClr val="accent5"/>
          </a:solidFill>
          <a:ln w="12700">
            <a:noFill/>
            <a:miter lim="800000"/>
          </a:ln>
          <a:effectLst/>
        </p:spPr>
        <p:txBody>
          <a:bodyPr wrap="none" lIns="102845" tIns="0" rIns="102845" bIns="0" anchor="ctr" anchorCtr="0"/>
          <a:lstStyle>
            <a:defPPr>
              <a:defRPr kern="1200"/>
            </a:defPPr>
          </a:lstStyle>
          <a:p>
            <a:pPr algn="ctr" defTabSz="3526920">
              <a:defRPr/>
            </a:pPr>
            <a:r>
              <a:rPr lang="en-US" sz="4000" b="1" dirty="0">
                <a:solidFill>
                  <a:srgbClr val="FFFFFF"/>
                </a:solidFill>
                <a:latin typeface="Times New Roman" panose="02020603050405020304" pitchFamily="18" charset="0"/>
                <a:cs typeface="Times New Roman" panose="02020603050405020304" pitchFamily="18" charset="0"/>
              </a:rPr>
              <a:t>Findings</a:t>
            </a:r>
          </a:p>
        </p:txBody>
      </p:sp>
      <p:sp>
        <p:nvSpPr>
          <p:cNvPr id="48" name="TextBox 47">
            <a:extLst>
              <a:ext uri="{FF2B5EF4-FFF2-40B4-BE49-F238E27FC236}">
                <a16:creationId xmlns:a16="http://schemas.microsoft.com/office/drawing/2014/main" id="{08D43975-61E5-3C5A-5E5A-A2EF92E4291B}"/>
              </a:ext>
            </a:extLst>
          </p:cNvPr>
          <p:cNvSpPr txBox="1"/>
          <p:nvPr/>
        </p:nvSpPr>
        <p:spPr>
          <a:xfrm>
            <a:off x="23013761" y="43902940"/>
            <a:ext cx="8514269" cy="615553"/>
          </a:xfrm>
          <a:prstGeom prst="rect">
            <a:avLst/>
          </a:prstGeom>
          <a:noFill/>
        </p:spPr>
        <p:txBody>
          <a:bodyPr wrap="square" rtlCol="0">
            <a:spAutoFit/>
          </a:bodyPr>
          <a:lstStyle/>
          <a:p>
            <a:pPr algn="ctr"/>
            <a:r>
              <a:rPr lang="en-US" sz="3400" b="1" dirty="0">
                <a:latin typeface="Times New Roman" panose="02020603050405020304" pitchFamily="18" charset="0"/>
                <a:cs typeface="Times New Roman" panose="02020603050405020304" pitchFamily="18" charset="0"/>
              </a:rPr>
              <a:t>Figure 4: Simulation Result Comparison</a:t>
            </a:r>
          </a:p>
        </p:txBody>
      </p:sp>
      <p:pic>
        <p:nvPicPr>
          <p:cNvPr id="1037" name="Picture 1036">
            <a:extLst>
              <a:ext uri="{FF2B5EF4-FFF2-40B4-BE49-F238E27FC236}">
                <a16:creationId xmlns:a16="http://schemas.microsoft.com/office/drawing/2014/main" id="{E7A92DC3-1F24-92B8-44C3-A144D8D01CB0}"/>
              </a:ext>
            </a:extLst>
          </p:cNvPr>
          <p:cNvPicPr>
            <a:picLocks noChangeAspect="1"/>
          </p:cNvPicPr>
          <p:nvPr/>
        </p:nvPicPr>
        <p:blipFill>
          <a:blip r:embed="rId6"/>
          <a:srcRect l="11698" t="42676" r="8553" b="40384"/>
          <a:stretch>
            <a:fillRect/>
          </a:stretch>
        </p:blipFill>
        <p:spPr>
          <a:xfrm>
            <a:off x="18382440" y="23198712"/>
            <a:ext cx="17204048" cy="3810249"/>
          </a:xfrm>
          <a:prstGeom prst="rect">
            <a:avLst/>
          </a:prstGeom>
        </p:spPr>
      </p:pic>
      <p:pic>
        <p:nvPicPr>
          <p:cNvPr id="1039" name="Picture 1038">
            <a:extLst>
              <a:ext uri="{FF2B5EF4-FFF2-40B4-BE49-F238E27FC236}">
                <a16:creationId xmlns:a16="http://schemas.microsoft.com/office/drawing/2014/main" id="{7A2E427E-5CC5-C691-1ACA-C508A1E55984}"/>
              </a:ext>
            </a:extLst>
          </p:cNvPr>
          <p:cNvPicPr>
            <a:picLocks noChangeAspect="1"/>
          </p:cNvPicPr>
          <p:nvPr/>
        </p:nvPicPr>
        <p:blipFill>
          <a:blip r:embed="rId7"/>
          <a:srcRect l="2081" t="30661" r="3503" b="31307"/>
          <a:stretch>
            <a:fillRect/>
          </a:stretch>
        </p:blipFill>
        <p:spPr>
          <a:xfrm>
            <a:off x="18570355" y="6302624"/>
            <a:ext cx="17401080" cy="7582912"/>
          </a:xfrm>
          <a:prstGeom prst="rect">
            <a:avLst/>
          </a:prstGeom>
        </p:spPr>
      </p:pic>
      <p:sp>
        <p:nvSpPr>
          <p:cNvPr id="1040" name="TextBox 1039">
            <a:extLst>
              <a:ext uri="{FF2B5EF4-FFF2-40B4-BE49-F238E27FC236}">
                <a16:creationId xmlns:a16="http://schemas.microsoft.com/office/drawing/2014/main" id="{D20D5590-7568-F394-F2E7-7F680265D2B9}"/>
              </a:ext>
            </a:extLst>
          </p:cNvPr>
          <p:cNvSpPr txBox="1"/>
          <p:nvPr/>
        </p:nvSpPr>
        <p:spPr>
          <a:xfrm>
            <a:off x="18937423" y="45761507"/>
            <a:ext cx="16303478" cy="2708434"/>
          </a:xfrm>
          <a:prstGeom prst="rect">
            <a:avLst/>
          </a:prstGeom>
          <a:noFill/>
        </p:spPr>
        <p:txBody>
          <a:bodyPr wrap="square" rtlCol="0">
            <a:spAutoFit/>
          </a:bodyPr>
          <a:lstStyle/>
          <a:p>
            <a:pPr algn="just"/>
            <a:r>
              <a:rPr lang="en-US" sz="3400" dirty="0">
                <a:latin typeface="Times New Roman" panose="02020603050405020304" pitchFamily="18" charset="0"/>
                <a:cs typeface="Times New Roman" panose="02020603050405020304" pitchFamily="18" charset="0"/>
              </a:rPr>
              <a:t>A seven-pole Chebyshev microstrip bandpass filter at 2.0 GHz is successfully designed and implemented with steep selectivity and controlled ripple by use of an FSIR design layout. Low insertion loss, high out-of-band rejection, and simulation verification of the synthesis methodology are all validated via simulation to support the use of modern RF communication applications.</a:t>
            </a:r>
            <a:endParaRPr lang="en-SG" sz="3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B2475CB-2CA5-D2E0-B2D7-80A754691F69}"/>
              </a:ext>
            </a:extLst>
          </p:cNvPr>
          <p:cNvPicPr>
            <a:picLocks noChangeAspect="1"/>
          </p:cNvPicPr>
          <p:nvPr/>
        </p:nvPicPr>
        <p:blipFill>
          <a:blip r:embed="rId8"/>
          <a:srcRect l="13361" t="28652" r="8603" b="24322"/>
          <a:stretch>
            <a:fillRect/>
          </a:stretch>
        </p:blipFill>
        <p:spPr>
          <a:xfrm>
            <a:off x="18959714" y="34374893"/>
            <a:ext cx="16440630" cy="9528047"/>
          </a:xfrm>
          <a:prstGeom prst="rect">
            <a:avLst/>
          </a:prstGeom>
        </p:spPr>
      </p:pic>
    </p:spTree>
    <p:extLst>
      <p:ext uri="{BB962C8B-B14F-4D97-AF65-F5344CB8AC3E}">
        <p14:creationId xmlns:p14="http://schemas.microsoft.com/office/powerpoint/2010/main" val="288421913"/>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944</TotalTime>
  <Words>933</Words>
  <Application>Microsoft Office PowerPoint</Application>
  <PresentationFormat>Custom</PresentationFormat>
  <Paragraphs>55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Cambria Math</vt:lpstr>
      <vt:lpstr>Times New Roman</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Wasif Al Wazed Wasi</dc:creator>
  <cp:lastModifiedBy>Ayon Datta</cp:lastModifiedBy>
  <cp:revision>49</cp:revision>
  <dcterms:created xsi:type="dcterms:W3CDTF">2025-11-29T22:59:06Z</dcterms:created>
  <dcterms:modified xsi:type="dcterms:W3CDTF">2025-12-02T15:23:30Z</dcterms:modified>
</cp:coreProperties>
</file>